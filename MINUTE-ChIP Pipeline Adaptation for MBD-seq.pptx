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Poppins"/>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7534B9-47D7-4243-9989-0C66526683FC}">
  <a:tblStyle styleId="{077534B9-47D7-4243-9989-0C66526683F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4CF52A42-CD6A-40EA-994F-25FE9F54D62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Lato-italic.fntdata"/><Relationship Id="rId10" Type="http://schemas.openxmlformats.org/officeDocument/2006/relationships/slide" Target="slides/slide4.xml"/><Relationship Id="rId32" Type="http://schemas.openxmlformats.org/officeDocument/2006/relationships/font" Target="fonts/Lat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La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Hello everyone, </a:t>
            </a:r>
            <a:endParaRPr/>
          </a:p>
          <a:p>
            <a:pPr indent="0" lvl="0" marL="0" rtl="0" algn="l">
              <a:spcBef>
                <a:spcPts val="0"/>
              </a:spcBef>
              <a:spcAft>
                <a:spcPts val="0"/>
              </a:spcAft>
              <a:buNone/>
            </a:pPr>
            <a:r>
              <a:rPr lang="en-US"/>
              <a:t>Today I would like to present to you my Research Project in Precision Medicine that I got to do at Maria’s group (once again), this time under a watchful eye of Shumaila. The project is also a collaboration between the research group and Epigenica who kindly guided us and supported whenever we needed help. My objective was to use the MINUTE pipeline, normally used for histone methylation, and adapt it to DNA methylation. Now because we had access to the same PBMC samples, I could compare and see what kind of results we get from the Illumina 850k Array vs. Epigenica’s pipeline.</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Let me briefly introduce the concept of epigenetics even though I’m sure everyone is an expert on it. Epigenetics describes how genetic code is regulated. For the purpose of this project we only focus on DNA methylation. It can give information about one’s lifestyle (active vs. sedimentary), smoking, predict age, past diseases, cancer, etc. DNA methylation is the addition of methyl group on carbon 5 in cytosine and is most commonly followed by guanine - CpG. This regulates gene expression without changing the DNA sequence. In the entire genome we have regions rich and poor in CpG sites (CpG islands), and these regions are typically gene regulatory regions such as gene promoters. (Picture) Methyl groups attached -&gt; gene silencing, and vice versa. This regulation has a vital </a:t>
            </a:r>
            <a:r>
              <a:rPr lang="en-US"/>
              <a:t>function</a:t>
            </a:r>
            <a:r>
              <a:rPr lang="en-US"/>
              <a:t> in living organisms, because it determines the cell fate and differentiation. Looking at the right picture we can see that the more methylation we gain by going to the right, the more differentiated the cell is. It looses pluripotency genes and expresses only ones that the cell needs to fullfill its functions. This process is tightly regulated in developmental biology. If we focus at the bottom part, we can see that certain regions in the genome are either permanently methylated or unmethylated. That information is crucial to understand DNA methylation in context of diseases and infections. For instance in cancer, epigenetic changes are one of the main hallmarks - we see either silencing of tumor suppressor genes like p53 (repairs DNA damage) or activation of oncogenes by unmethylating their promoters. The ‘good’ thing about it is that methylation is a reversible process, so it can be utilized in developing novel therapies.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Nowadays, the gold standard lies in </a:t>
            </a:r>
            <a:r>
              <a:rPr lang="en-US"/>
              <a:t>bisulfite</a:t>
            </a:r>
            <a:r>
              <a:rPr lang="en-US"/>
              <a:t> conversion methods, which remain quite expensive, damage the DNA with harsh chemicals and temperature and are not friendly to low DNA inputs from rare cell types or liquid biopsies (which have been recently of very high </a:t>
            </a:r>
            <a:r>
              <a:rPr lang="en-US"/>
              <a:t>interest</a:t>
            </a:r>
            <a:r>
              <a:rPr lang="en-US"/>
              <a:t> due to the high specificity, ease and short processing times). Additionally, we have to deal with batch corrections and technical </a:t>
            </a:r>
            <a:r>
              <a:rPr lang="en-US"/>
              <a:t>variability</a:t>
            </a:r>
            <a:r>
              <a:rPr lang="en-US"/>
              <a:t>, which are not welcome in experiments that require high repetitions and multiple sample testing. How can we screen for DNA methylation without using bisulphite conversion?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can utilize Next Generation Sequencing Technologies. Epigenica has patented a multiplexing protocol, which was published last year in Nature and was primarily used for analysing histone methylation. Why is it so attractive? It uses a barcoding method, where after the standard lysis and DNA </a:t>
            </a:r>
            <a:r>
              <a:rPr lang="en-US"/>
              <a:t>fragmentation common to sequencing methods</a:t>
            </a:r>
            <a:r>
              <a:rPr lang="en-US"/>
              <a:t>, we mix the fragments with unique barcodes which ligate to the DNA. We pool all the samples together into one tube. Then we use many different antibodies (in case of histones), depending on what type of histone modification we are interested in and we sequence the reads e.g. on an Illumina instrument. Afterwards the samples are demultiplexed through the MINUTE pipeline which means that we can identify separate samples in the pool thanks to the unique barcodes they had been labelled with before. This makes it a very </a:t>
            </a:r>
            <a:r>
              <a:rPr lang="en-US"/>
              <a:t>attractive</a:t>
            </a:r>
            <a:r>
              <a:rPr lang="en-US"/>
              <a:t> method for clinical discovery. </a:t>
            </a:r>
            <a:endParaRPr/>
          </a:p>
        </p:txBody>
      </p:sp>
      <p:sp>
        <p:nvSpPr>
          <p:cNvPr id="129" name="Google Shape;12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My goal of the project was to see whether we can use Epigenica’s MINUTE pipeline and adapt it for analysis DNA methylation. I cannot take the credit for the labwork because it was Zoe who </a:t>
            </a:r>
            <a:r>
              <a:rPr lang="en-US"/>
              <a:t>successfully</a:t>
            </a:r>
            <a:r>
              <a:rPr lang="en-US"/>
              <a:t> followed the </a:t>
            </a:r>
            <a:r>
              <a:rPr lang="en-US"/>
              <a:t>protocol</a:t>
            </a:r>
            <a:r>
              <a:rPr lang="en-US"/>
              <a:t> and prepared the samples, so thank you so much for that Zoe! </a:t>
            </a:r>
            <a:endParaRPr/>
          </a:p>
          <a:p>
            <a:pPr indent="0" lvl="0" marL="0" rtl="0" algn="l">
              <a:spcBef>
                <a:spcPts val="0"/>
              </a:spcBef>
              <a:spcAft>
                <a:spcPts val="0"/>
              </a:spcAft>
              <a:buNone/>
            </a:pPr>
            <a:r>
              <a:rPr lang="en-US"/>
              <a:t>Here, instead of using antibodies (like for histones), we use a protein that naturally </a:t>
            </a:r>
            <a:r>
              <a:rPr lang="en-US"/>
              <a:t>occurs in the cells - Methyl-CpG-Binding Domain to capture CpG rich regions. As a control we use an CXXC protein that binds unmethylated CpG. It is crucial to point out now that this is a completely different method to study DNA methylation. With MINUTE we capture regions rich in CpGs, so it’s an enrichment methods - the more reads the more methylation we detect. With the 850k array, we hybridize 850,000 predesigned probes to specific regions and we detect them by measuring the fluorescent signals (red vs. green).</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Samples were labelled in the following way….</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86d48736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86d4873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Step-by-step go through the workflow</a:t>
            </a:r>
            <a:endParaRPr/>
          </a:p>
          <a:p>
            <a:pPr indent="0" lvl="0" marL="0" rtl="0" algn="l">
              <a:spcBef>
                <a:spcPts val="0"/>
              </a:spcBef>
              <a:spcAft>
                <a:spcPts val="0"/>
              </a:spcAft>
              <a:buNone/>
            </a:pPr>
            <a:r>
              <a:rPr lang="en-US"/>
              <a:t>BAM files store raw, detailed read alignments (sequences, mapping quality, splice junctions, variants) for primary analysis. They are binary files (not human readable) with large size. </a:t>
            </a:r>
            <a:endParaRPr/>
          </a:p>
          <a:p>
            <a:pPr indent="0" lvl="0" marL="0" rtl="0" algn="l">
              <a:spcBef>
                <a:spcPts val="0"/>
              </a:spcBef>
              <a:spcAft>
                <a:spcPts val="0"/>
              </a:spcAft>
              <a:buNone/>
            </a:pPr>
            <a:r>
              <a:rPr lang="en-US"/>
              <a:t>BigWig files store compressed, indexed genome-wide coverage/signal (read depth) for efficient visualization and comparison in browsers like UCSC. This is sensitive data that in our case is stored safely on the AIDA Data Science Platform in Linköping.</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Back to the Array - step-by-step analysis in R. </a:t>
            </a:r>
            <a:endParaRPr/>
          </a:p>
          <a:p>
            <a:pPr indent="0" lvl="0" marL="0" rtl="0" algn="l">
              <a:spcBef>
                <a:spcPts val="0"/>
              </a:spcBef>
              <a:spcAft>
                <a:spcPts val="0"/>
              </a:spcAft>
              <a:buNone/>
            </a:pPr>
            <a:r>
              <a:rPr lang="en-US"/>
              <a:t>IDAT files are binary files from Illumina containing raw intensity data from microarray experiments.</a:t>
            </a:r>
            <a:endParaRPr/>
          </a:p>
          <a:p>
            <a:pPr indent="0" lvl="0" marL="0" rtl="0" algn="l">
              <a:spcBef>
                <a:spcPts val="0"/>
              </a:spcBef>
              <a:spcAft>
                <a:spcPts val="0"/>
              </a:spcAft>
              <a:buNone/>
            </a:pPr>
            <a:r>
              <a:rPr lang="en-US"/>
              <a:t>At this stage I wanted to point out that the analysis is very different. We </a:t>
            </a:r>
            <a:r>
              <a:rPr lang="en-US"/>
              <a:t>get different types of files, which require different softwares for processing and we get different outputs from them. From NGS we don’t get beta values, but enrichment scores. </a:t>
            </a:r>
            <a:endParaRPr/>
          </a:p>
        </p:txBody>
      </p:sp>
      <p:sp>
        <p:nvSpPr>
          <p:cNvPr id="205" name="Google Shape;2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Back to MINUTE - go through results, each plot. </a:t>
            </a:r>
            <a:endParaRPr/>
          </a:p>
          <a:p>
            <a:pPr indent="0" lvl="0" marL="0" rtl="0" algn="l">
              <a:spcBef>
                <a:spcPts val="0"/>
              </a:spcBef>
              <a:spcAft>
                <a:spcPts val="0"/>
              </a:spcAft>
              <a:buNone/>
            </a:pPr>
            <a:r>
              <a:rPr lang="en-US"/>
              <a:t>PCA: Replicates within each method clustered tightly, demonstrating high technical reproducibility, while variation along PC2 likely reflects secondary sample-specific effects. The M4 fraction (High Stringency) clusters closer to the Input, likely due to lower DNA yield in hyper-methylated regions, resulting in a higher background-to-signal ratio.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Fingerprint plot: To understand this exactly, imagine the genome is divided into millions of small "bins" or windows. The software (deepTools) ranks these bins from those with the lowest number of reads to those with the highest number of reads (x-axis).The y-axis represents a percentage scale of the cumulative fraction of total sequencing reads. As you move along the X-axis (from the lowest-ranked bin to the highest-ranked), the Y-axis adds up the number of reads found in those bins. The plot was used to determine how well the method captured its target DNA versus picking up background noise. The red Input line expected to lie very close to a perfect diagonal shows that reads are spread evenly across the genome. The green (unmethylated), yellow (commercial) and blue (in-house) lines indicate enrichment towards their targets confirming that MBD captured their targets better than the background fragments. M2 In-house (in blue) with the biggest ‘elbow bent’ shows that most methylated reads are concentrated in small genomic region which was intended for capturing.</a:t>
            </a:r>
            <a:endParaRPr/>
          </a:p>
        </p:txBody>
      </p:sp>
      <p:sp>
        <p:nvSpPr>
          <p:cNvPr id="215" name="Google Shape;2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 sequencing heatmaps, Red (High Intensity) always means "We found a lot of DNA here." It does not automatically mean "Methylated." It depends entirely on what "net" you used to catch the DNA.</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The M2 Sample (MBD Protein)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The Net:</a:t>
            </a:r>
            <a:r>
              <a:rPr lang="en-US">
                <a:solidFill>
                  <a:schemeClr val="dk1"/>
                </a:solidFill>
              </a:rPr>
              <a:t> Catches </a:t>
            </a:r>
            <a:r>
              <a:rPr b="1" lang="en-US">
                <a:solidFill>
                  <a:schemeClr val="dk1"/>
                </a:solidFill>
              </a:rPr>
              <a:t>Methylated</a:t>
            </a:r>
            <a:r>
              <a:rPr lang="en-US">
                <a:solidFill>
                  <a:schemeClr val="dk1"/>
                </a:solidFill>
              </a:rPr>
              <a:t> DNA.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The Signal (Red):</a:t>
            </a:r>
            <a:r>
              <a:rPr lang="en-US">
                <a:solidFill>
                  <a:schemeClr val="dk1"/>
                </a:solidFill>
              </a:rPr>
              <a:t> Means "I found Methylation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At TSS:</a:t>
            </a:r>
            <a:r>
              <a:rPr lang="en-US">
                <a:solidFill>
                  <a:schemeClr val="dk1"/>
                </a:solidFill>
              </a:rPr>
              <a:t> The TSS is usually </a:t>
            </a:r>
            <a:r>
              <a:rPr i="1" lang="en-US">
                <a:solidFill>
                  <a:schemeClr val="dk1"/>
                </a:solidFill>
              </a:rPr>
              <a:t>Unmethylated</a:t>
            </a:r>
            <a:r>
              <a:rPr lang="en-US">
                <a:solidFill>
                  <a:schemeClr val="dk1"/>
                </a:solidFill>
              </a:rPr>
              <a:t>. The MBD net catches nothing.</a:t>
            </a:r>
            <a:endParaRPr>
              <a:solidFill>
                <a:schemeClr val="dk1"/>
              </a:solidFill>
            </a:endParaRPr>
          </a:p>
          <a:p>
            <a:pPr indent="0" lvl="0" marL="0" rtl="0" algn="l">
              <a:lnSpc>
                <a:spcPct val="115000"/>
              </a:lnSpc>
              <a:spcBef>
                <a:spcPts val="1400"/>
              </a:spcBef>
              <a:spcAft>
                <a:spcPts val="0"/>
              </a:spcAft>
              <a:buNone/>
            </a:pPr>
            <a:r>
              <a:rPr b="1" lang="en-US" sz="1300">
                <a:solidFill>
                  <a:schemeClr val="dk1"/>
                </a:solidFill>
              </a:rPr>
              <a:t>The M3 Sample (CXXC Protein)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The Net:</a:t>
            </a:r>
            <a:r>
              <a:rPr lang="en-US">
                <a:solidFill>
                  <a:schemeClr val="dk1"/>
                </a:solidFill>
              </a:rPr>
              <a:t> Catches </a:t>
            </a:r>
            <a:r>
              <a:rPr b="1" lang="en-US">
                <a:solidFill>
                  <a:schemeClr val="dk1"/>
                </a:solidFill>
              </a:rPr>
              <a:t>UN-methylated</a:t>
            </a:r>
            <a:r>
              <a:rPr lang="en-US">
                <a:solidFill>
                  <a:schemeClr val="dk1"/>
                </a:solidFill>
              </a:rPr>
              <a:t> DNA (CpG Islands).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The Signal (Red):</a:t>
            </a:r>
            <a:r>
              <a:rPr lang="en-US">
                <a:solidFill>
                  <a:schemeClr val="dk1"/>
                </a:solidFill>
              </a:rPr>
              <a:t> Means "I found </a:t>
            </a:r>
            <a:r>
              <a:rPr b="1" lang="en-US">
                <a:solidFill>
                  <a:schemeClr val="dk1"/>
                </a:solidFill>
              </a:rPr>
              <a:t>UN-methylated</a:t>
            </a:r>
            <a:r>
              <a:rPr lang="en-US">
                <a:solidFill>
                  <a:schemeClr val="dk1"/>
                </a:solidFill>
              </a:rPr>
              <a:t> DNA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At TSS:</a:t>
            </a:r>
            <a:r>
              <a:rPr lang="en-US">
                <a:solidFill>
                  <a:schemeClr val="dk1"/>
                </a:solidFill>
              </a:rPr>
              <a:t> The TSS is </a:t>
            </a:r>
            <a:r>
              <a:rPr i="1" lang="en-US">
                <a:solidFill>
                  <a:schemeClr val="dk1"/>
                </a:solidFill>
              </a:rPr>
              <a:t>Unmethylated</a:t>
            </a:r>
            <a:r>
              <a:rPr lang="en-US">
                <a:solidFill>
                  <a:schemeClr val="dk1"/>
                </a:solidFill>
              </a:rPr>
              <a:t>. The CXXC net catches </a:t>
            </a:r>
            <a:r>
              <a:rPr i="1" lang="en-US">
                <a:solidFill>
                  <a:schemeClr val="dk1"/>
                </a:solidFill>
              </a:rPr>
              <a:t>everything</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Result:</a:t>
            </a:r>
            <a:r>
              <a:rPr lang="en-US">
                <a:solidFill>
                  <a:schemeClr val="dk1"/>
                </a:solidFill>
              </a:rPr>
              <a:t> </a:t>
            </a:r>
            <a:r>
              <a:rPr b="1" lang="en-US">
                <a:solidFill>
                  <a:schemeClr val="dk1"/>
                </a:solidFill>
              </a:rPr>
              <a:t>Dark Red</a:t>
            </a:r>
            <a:r>
              <a:rPr lang="en-US">
                <a:solidFill>
                  <a:schemeClr val="dk1"/>
                </a:solidFill>
              </a:rPr>
              <a:t> (High Signal) at the TSS.</a:t>
            </a:r>
            <a:endParaRPr>
              <a:solidFill>
                <a:schemeClr val="dk1"/>
              </a:solidFill>
            </a:endParaRPr>
          </a:p>
          <a:p>
            <a:pPr indent="0" lvl="0" marL="0" rtl="0" algn="l">
              <a:spcBef>
                <a:spcPts val="1200"/>
              </a:spcBef>
              <a:spcAft>
                <a:spcPts val="0"/>
              </a:spcAft>
              <a:buNone/>
            </a:pPr>
            <a:r>
              <a:rPr b="1" lang="en-US">
                <a:solidFill>
                  <a:schemeClr val="dk1"/>
                </a:solidFill>
              </a:rPr>
              <a:t>Why:</a:t>
            </a:r>
            <a:r>
              <a:rPr lang="en-US">
                <a:solidFill>
                  <a:schemeClr val="dk1"/>
                </a:solidFill>
              </a:rPr>
              <a:t> Because most genes need to be active to keep the cell alive. To be active, they must be </a:t>
            </a:r>
            <a:r>
              <a:rPr b="1" lang="en-US">
                <a:solidFill>
                  <a:schemeClr val="dk1"/>
                </a:solidFill>
              </a:rPr>
              <a:t>Unmethylated</a:t>
            </a:r>
            <a:r>
              <a:rPr lang="en-US">
                <a:solidFill>
                  <a:schemeClr val="dk1"/>
                </a:solidFill>
              </a:rPr>
              <a:t>.</a:t>
            </a:r>
            <a:endParaRPr/>
          </a:p>
        </p:txBody>
      </p:sp>
      <p:sp>
        <p:nvSpPr>
          <p:cNvPr id="236" name="Google Shape;2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figure is essentially a "genomic map" of where the experimental capture worked. It answers the question: When we "fished" for methylated DNA, which parts of the gene did we actually catch?</a:t>
            </a:r>
            <a:endParaRPr/>
          </a:p>
          <a:p>
            <a:pPr indent="0" lvl="0" marL="0" rtl="0" algn="l">
              <a:spcBef>
                <a:spcPts val="0"/>
              </a:spcBef>
              <a:spcAft>
                <a:spcPts val="0"/>
              </a:spcAft>
              <a:buNone/>
            </a:pPr>
            <a:r>
              <a:rPr lang="en-US">
                <a:solidFill>
                  <a:schemeClr val="dk1"/>
                </a:solidFill>
              </a:rPr>
              <a:t>Look at the </a:t>
            </a:r>
            <a:r>
              <a:rPr b="1" lang="en-US">
                <a:solidFill>
                  <a:schemeClr val="dk1"/>
                </a:solidFill>
              </a:rPr>
              <a:t>light blue</a:t>
            </a:r>
            <a:r>
              <a:rPr lang="en-US">
                <a:solidFill>
                  <a:schemeClr val="dk1"/>
                </a:solidFill>
              </a:rPr>
              <a:t> bar (Promoter $\leq$ 1kb) for </a:t>
            </a:r>
            <a:r>
              <a:rPr b="1" lang="en-US">
                <a:solidFill>
                  <a:schemeClr val="dk1"/>
                </a:solidFill>
              </a:rPr>
              <a:t>InHouse_M2</a:t>
            </a:r>
            <a:r>
              <a:rPr lang="en-US">
                <a:solidFill>
                  <a:schemeClr val="dk1"/>
                </a:solidFill>
              </a:rPr>
              <a:t>. It is noticeably larger than the same bar for M4. This suggests that the In-House method is more specific to the "core" promoter where transcription starts.</a:t>
            </a:r>
            <a:endParaRPr>
              <a:solidFill>
                <a:schemeClr val="dk1"/>
              </a:solidFill>
            </a:endParaRPr>
          </a:p>
          <a:p>
            <a:pPr indent="0" lvl="0" marL="0" rtl="0" algn="l">
              <a:spcBef>
                <a:spcPts val="0"/>
              </a:spcBef>
              <a:spcAft>
                <a:spcPts val="0"/>
              </a:spcAft>
              <a:buNone/>
            </a:pPr>
            <a:r>
              <a:rPr lang="en-US">
                <a:solidFill>
                  <a:schemeClr val="dk1"/>
                </a:solidFill>
              </a:rPr>
              <a:t>The </a:t>
            </a:r>
            <a:r>
              <a:rPr b="1" lang="en-US">
                <a:solidFill>
                  <a:schemeClr val="dk1"/>
                </a:solidFill>
              </a:rPr>
              <a:t>Commercial_M4</a:t>
            </a:r>
            <a:r>
              <a:rPr lang="en-US">
                <a:solidFill>
                  <a:schemeClr val="dk1"/>
                </a:solidFill>
              </a:rPr>
              <a:t> sample has much larger </a:t>
            </a:r>
            <a:r>
              <a:rPr b="1" lang="en-US">
                <a:solidFill>
                  <a:schemeClr val="dk1"/>
                </a:solidFill>
              </a:rPr>
              <a:t>yellow</a:t>
            </a:r>
            <a:r>
              <a:rPr lang="en-US">
                <a:solidFill>
                  <a:schemeClr val="dk1"/>
                </a:solidFill>
              </a:rPr>
              <a:t> (Distal Intergenic) and </a:t>
            </a:r>
            <a:r>
              <a:rPr b="1" lang="en-US">
                <a:solidFill>
                  <a:schemeClr val="dk1"/>
                </a:solidFill>
              </a:rPr>
              <a:t>purple</a:t>
            </a:r>
            <a:r>
              <a:rPr lang="en-US">
                <a:solidFill>
                  <a:schemeClr val="dk1"/>
                </a:solidFill>
              </a:rPr>
              <a:t> (Other Intron) sections. This means the commercial kit captures more methylation outside of genes—this could be a good thing (discovery of new enhancers) or a bad thing (more background noise).</a:t>
            </a:r>
            <a:endParaRPr>
              <a:solidFill>
                <a:schemeClr val="dk1"/>
              </a:solidFill>
            </a:endParaRPr>
          </a:p>
        </p:txBody>
      </p:sp>
      <p:sp>
        <p:nvSpPr>
          <p:cNvPr id="253" name="Google Shape;2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6e69d9bd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How was the Venn diagram created? </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At first I asked myself, if we have 2 different capture methods how can we compare the results we get from them? Since they both identify genes, in one way or another, we can make lists of these genes and see how they overlap. If there is methylation signal in one sample, then both methods should come to the same conclusion. From the Array analysed data I generated a list of methylated genes (defined as beta &gt; 0.6) and from the NGS I made a list of enriched genes. With a simple command line I overlapped the lists and derived the numbers which I then plotted on this Venn diagram. </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Core (All 3 agree):</a:t>
            </a:r>
            <a:r>
              <a:rPr lang="en-US">
                <a:solidFill>
                  <a:schemeClr val="dk1"/>
                </a:solidFill>
              </a:rPr>
              <a:t> </a:t>
            </a:r>
            <a:r>
              <a:rPr b="1" lang="en-US">
                <a:solidFill>
                  <a:schemeClr val="dk1"/>
                </a:solidFill>
              </a:rPr>
              <a:t>6,888 genes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These are all the methylated genes that the 3 methods found together.</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First of all, by looking at the total number of genes identified, we can see clear differences as commercial MBD identified 26,044 gene names compared to only 13,121 that the in-house protein did. The in-house method captures half of the genes than a commential kit can capture, whereas the </a:t>
            </a:r>
            <a:r>
              <a:rPr lang="en-US">
                <a:solidFill>
                  <a:schemeClr val="dk1"/>
                </a:solidFill>
              </a:rPr>
              <a:t>commercial</a:t>
            </a:r>
            <a:r>
              <a:rPr lang="en-US">
                <a:solidFill>
                  <a:schemeClr val="dk1"/>
                </a:solidFill>
              </a:rPr>
              <a:t> kit captures 62% of the genes that Illumina array did. We could ask is that good or bad? Well, it is still different methods we’re talking about, so the signal that determines which genes are methylated is different.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Extra points: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It looks to me that the </a:t>
            </a:r>
            <a:r>
              <a:rPr lang="en-US">
                <a:solidFill>
                  <a:schemeClr val="dk1"/>
                </a:solidFill>
              </a:rPr>
              <a:t>Commercial</a:t>
            </a:r>
            <a:r>
              <a:rPr lang="en-US">
                <a:solidFill>
                  <a:schemeClr val="dk1"/>
                </a:solidFill>
              </a:rPr>
              <a:t> MBD has identified a very high total number of genes: 26,000.</a:t>
            </a:r>
            <a:r>
              <a:rPr lang="en-US">
                <a:solidFill>
                  <a:schemeClr val="dk1"/>
                </a:solidFill>
              </a:rPr>
              <a:t> It could mean that this protein is very sensitive to methylation and will pick up anything with a methyl group attached, whereas the In-house protein from Epigenica is more specific. It could perhaps also explain why the PCA correlates with the Input, and therefore the enrichment is not highly strict, but picks up anything methylated.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It could be related to what we saw in the genomic feature distribution, where we can see that they pull more Other intron (category).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MBD kit captures Gene Bodies and Domains, while the Array is often focused on Promoters. MBD might be calling genes "methylated" because their bodies are heavy with signal, even if the specific promoter probe on the array was unmethylated.</a:t>
            </a:r>
            <a:endParaRPr>
              <a:solidFill>
                <a:schemeClr val="dk1"/>
              </a:solidFill>
            </a:endParaRPr>
          </a:p>
          <a:p>
            <a:pPr indent="0" lvl="0" marL="0" rtl="0" algn="l">
              <a:spcBef>
                <a:spcPts val="1200"/>
              </a:spcBef>
              <a:spcAft>
                <a:spcPts val="0"/>
              </a:spcAft>
              <a:buNone/>
            </a:pPr>
            <a:r>
              <a:t/>
            </a:r>
            <a:endParaRPr/>
          </a:p>
        </p:txBody>
      </p:sp>
      <p:sp>
        <p:nvSpPr>
          <p:cNvPr id="263" name="Google Shape;263;g3b6e69d9bd1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Overall, the choice of the method will always depend on the scientific question and experimental needs. If one aims to determine the methylation status of a single gene, the Illumina 850k array is superior because it uses specific, fixed probes designed to target known genomic locations at promoters and CpG islands. The results give Beta-values which can be interpreted in a binary way, if the value is &gt;0.6 then the region is hypermethylated (switched off), while &lt;0.2 mean hypomethylated (switched on). Whereas MINUTE-ChIP shows relative enrichment of a region, where the signal depends on read depth and the density of neighbouring CpGs. On the other hand, if the goal is to identify a change in status like silencing of tumor suppressor genes or activation of oncogenes in cancer, MINUTE-ChIP offers better potential for exploration and marker discovery. For instance, in cancer if a previously unmethylated promoter would suddenly show a strong peak (indicating methylation), it would be easier to statistically detect it than a shift in an array’s beta value.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In the future, it would be </a:t>
            </a:r>
            <a:r>
              <a:rPr lang="en-US" sz="1200">
                <a:solidFill>
                  <a:schemeClr val="dk1"/>
                </a:solidFill>
                <a:latin typeface="Times New Roman"/>
                <a:ea typeface="Times New Roman"/>
                <a:cs typeface="Times New Roman"/>
                <a:sym typeface="Times New Roman"/>
              </a:rPr>
              <a:t>beneficial</a:t>
            </a:r>
            <a:r>
              <a:rPr lang="en-US" sz="1200">
                <a:solidFill>
                  <a:schemeClr val="dk1"/>
                </a:solidFill>
                <a:latin typeface="Times New Roman"/>
                <a:ea typeface="Times New Roman"/>
                <a:cs typeface="Times New Roman"/>
                <a:sym typeface="Times New Roman"/>
              </a:rPr>
              <a:t> if someone tested MINUTE on a specific biological question.</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t>From </a:t>
            </a:r>
            <a:r>
              <a:rPr lang="en-US"/>
              <a:t>practical point of view:</a:t>
            </a:r>
            <a:endParaRPr/>
          </a:p>
          <a:p>
            <a:pPr indent="-298450" lvl="0" marL="457200" rtl="0" algn="l">
              <a:spcBef>
                <a:spcPts val="0"/>
              </a:spcBef>
              <a:spcAft>
                <a:spcPts val="0"/>
              </a:spcAft>
              <a:buSzPts val="1100"/>
              <a:buChar char="-"/>
            </a:pPr>
            <a:r>
              <a:rPr lang="en-US"/>
              <a:t>Using Epigenica’s kit is very pragmatic, it looks that the method is highly reproducible and therefore reliable. It also allows for someone who has basic bioinformatics skills to follow the pipeline. </a:t>
            </a:r>
            <a:endParaRPr/>
          </a:p>
          <a:p>
            <a:pPr indent="-298450" lvl="0" marL="457200" rtl="0" algn="l">
              <a:spcBef>
                <a:spcPts val="0"/>
              </a:spcBef>
              <a:spcAft>
                <a:spcPts val="0"/>
              </a:spcAft>
              <a:buSzPts val="1100"/>
              <a:buChar char="-"/>
            </a:pPr>
            <a:r>
              <a:rPr lang="en-US"/>
              <a:t>The pipeline also only takes 1 week including sample preparation, which is a relatively short time. </a:t>
            </a:r>
            <a:endParaRPr/>
          </a:p>
          <a:p>
            <a:pPr indent="-298450" lvl="0" marL="457200" rtl="0" algn="l">
              <a:spcBef>
                <a:spcPts val="0"/>
              </a:spcBef>
              <a:spcAft>
                <a:spcPts val="0"/>
              </a:spcAft>
              <a:buSzPts val="1100"/>
              <a:buChar char="-"/>
            </a:pPr>
            <a:r>
              <a:rPr lang="en-US"/>
              <a:t>To my understanding, when planning experiments we typically think of number of samples beforehand and use methods that someone has validated before, so that we have an available protocol for it. I would love this work to serve as such a foundation for people to try out new approaches. Understandably, it will also come down to the cost per sample, where the more samples we analyse, the cheaper the price will be per sample, but of course more expensive in total since we need to buy more kits. </a:t>
            </a:r>
            <a:endParaRPr/>
          </a:p>
        </p:txBody>
      </p:sp>
      <p:sp>
        <p:nvSpPr>
          <p:cNvPr id="295" name="Google Shape;29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6e69d9bd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b6e69d9bd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86d48736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b86d48736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6.png"/><Relationship Id="rId5" Type="http://schemas.openxmlformats.org/officeDocument/2006/relationships/image" Target="../media/image21.png"/><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0.png"/><Relationship Id="rId5" Type="http://schemas.openxmlformats.org/officeDocument/2006/relationships/image" Target="../media/image16.png"/><Relationship Id="rId6" Type="http://schemas.openxmlformats.org/officeDocument/2006/relationships/image" Target="../media/image29.png"/><Relationship Id="rId7" Type="http://schemas.openxmlformats.org/officeDocument/2006/relationships/image" Target="../media/image14.png"/><Relationship Id="rId8"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5.png"/><Relationship Id="rId5" Type="http://schemas.openxmlformats.org/officeDocument/2006/relationships/image" Target="../media/image17.png"/><Relationship Id="rId6" Type="http://schemas.openxmlformats.org/officeDocument/2006/relationships/image" Target="../media/image34.png"/><Relationship Id="rId7" Type="http://schemas.openxmlformats.org/officeDocument/2006/relationships/image" Target="../media/image31.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3.png"/><Relationship Id="rId5" Type="http://schemas.openxmlformats.org/officeDocument/2006/relationships/image" Target="../media/image26.png"/><Relationship Id="rId6"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27.png"/><Relationship Id="rId7" Type="http://schemas.openxmlformats.org/officeDocument/2006/relationships/image" Target="../media/image3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1.png"/><Relationship Id="rId4" Type="http://schemas.openxmlformats.org/officeDocument/2006/relationships/image" Target="../media/image46.png"/><Relationship Id="rId5" Type="http://schemas.openxmlformats.org/officeDocument/2006/relationships/image" Target="../media/image32.png"/><Relationship Id="rId6" Type="http://schemas.openxmlformats.org/officeDocument/2006/relationships/image" Target="../media/image43.png"/><Relationship Id="rId7"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hyperlink" Target="https://doi.org/10.1038/s41596-024-01058-z" TargetMode="External"/><Relationship Id="rId9" Type="http://schemas.openxmlformats.org/officeDocument/2006/relationships/hyperlink" Target="https://doi.org/10.1080/15592294.2022.2089471" TargetMode="External"/><Relationship Id="rId5" Type="http://schemas.openxmlformats.org/officeDocument/2006/relationships/hyperlink" Target="https://doi.org/10.1038/s41596-024-01058-z" TargetMode="External"/><Relationship Id="rId6" Type="http://schemas.openxmlformats.org/officeDocument/2006/relationships/hyperlink" Target="http://www.activemotif.com/" TargetMode="External"/><Relationship Id="rId7" Type="http://schemas.openxmlformats.org/officeDocument/2006/relationships/hyperlink" Target="http://www.activemotif.com/" TargetMode="External"/><Relationship Id="rId8" Type="http://schemas.openxmlformats.org/officeDocument/2006/relationships/hyperlink" Target="https://doi.org/10.1080/15592294.2022.208947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995487" y="1144934"/>
            <a:ext cx="8201025" cy="1215330"/>
          </a:xfrm>
          <a:prstGeom prst="rect">
            <a:avLst/>
          </a:prstGeom>
          <a:noFill/>
          <a:ln>
            <a:noFill/>
          </a:ln>
        </p:spPr>
        <p:txBody>
          <a:bodyPr anchorCtr="0" anchor="t" bIns="0" lIns="0" spcFirstLastPara="1" rIns="0" wrap="square" tIns="0">
            <a:spAutoFit/>
          </a:bodyPr>
          <a:lstStyle/>
          <a:p>
            <a:pPr indent="0" lvl="0" marL="0" marR="0" rtl="0" algn="ctr">
              <a:lnSpc>
                <a:spcPct val="109977"/>
              </a:lnSpc>
              <a:spcBef>
                <a:spcPts val="0"/>
              </a:spcBef>
              <a:spcAft>
                <a:spcPts val="0"/>
              </a:spcAft>
              <a:buNone/>
            </a:pPr>
            <a:r>
              <a:rPr b="1" i="0" lang="en-US" sz="4350" u="none" cap="none" strike="noStrike">
                <a:solidFill>
                  <a:srgbClr val="002147"/>
                </a:solidFill>
                <a:latin typeface="Poppins"/>
                <a:ea typeface="Poppins"/>
                <a:cs typeface="Poppins"/>
                <a:sym typeface="Poppins"/>
              </a:rPr>
              <a:t>Adapting MINUTE-ChIP for</a:t>
            </a:r>
            <a:br>
              <a:rPr b="0" i="0" lang="en-US" sz="1800" u="none" cap="none" strike="noStrike">
                <a:solidFill>
                  <a:schemeClr val="dk1"/>
                </a:solidFill>
                <a:latin typeface="Calibri"/>
                <a:ea typeface="Calibri"/>
                <a:cs typeface="Calibri"/>
                <a:sym typeface="Calibri"/>
              </a:rPr>
            </a:br>
            <a:r>
              <a:rPr b="1" i="0" lang="en-US" sz="4350" u="none" cap="none" strike="noStrike">
                <a:solidFill>
                  <a:srgbClr val="002147"/>
                </a:solidFill>
                <a:latin typeface="Poppins"/>
                <a:ea typeface="Poppins"/>
                <a:cs typeface="Poppins"/>
                <a:sym typeface="Poppins"/>
              </a:rPr>
              <a:t> High-Throughput MBD-seq</a:t>
            </a:r>
            <a:endParaRPr/>
          </a:p>
        </p:txBody>
      </p:sp>
      <p:sp>
        <p:nvSpPr>
          <p:cNvPr id="86" name="Google Shape;86;p13"/>
          <p:cNvSpPr/>
          <p:nvPr/>
        </p:nvSpPr>
        <p:spPr>
          <a:xfrm>
            <a:off x="5619750" y="2836515"/>
            <a:ext cx="952500" cy="381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2719350" y="3350875"/>
            <a:ext cx="69456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75569"/>
                </a:solidFill>
                <a:latin typeface="Lato"/>
                <a:ea typeface="Lato"/>
                <a:cs typeface="Lato"/>
                <a:sym typeface="Lato"/>
              </a:rPr>
              <a:t>Cross-Platform Validation Against Illumina MethylationEPIC 850k</a:t>
            </a:r>
            <a:endParaRPr/>
          </a:p>
        </p:txBody>
      </p:sp>
      <p:sp>
        <p:nvSpPr>
          <p:cNvPr id="88" name="Google Shape;88;p13"/>
          <p:cNvSpPr txBox="1"/>
          <p:nvPr/>
        </p:nvSpPr>
        <p:spPr>
          <a:xfrm>
            <a:off x="3842400" y="4326125"/>
            <a:ext cx="5133900" cy="538800"/>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None/>
            </a:pPr>
            <a:r>
              <a:rPr b="1" i="0" lang="en-US" sz="1500" u="none" cap="none" strike="noStrike">
                <a:solidFill>
                  <a:srgbClr val="334155"/>
                </a:solidFill>
                <a:latin typeface="Lato"/>
                <a:ea typeface="Lato"/>
                <a:cs typeface="Lato"/>
                <a:sym typeface="Lato"/>
              </a:rPr>
              <a:t>Klaudia Orfin</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334155"/>
                </a:solidFill>
                <a:latin typeface="Lato"/>
                <a:ea typeface="Lato"/>
                <a:cs typeface="Lato"/>
                <a:sym typeface="Lato"/>
              </a:rPr>
              <a:t> Uppsala University | Precision Medicine Project, 15 credits</a:t>
            </a:r>
            <a:endParaRPr/>
          </a:p>
        </p:txBody>
      </p:sp>
      <p:sp>
        <p:nvSpPr>
          <p:cNvPr id="89" name="Google Shape;89;p13"/>
          <p:cNvSpPr txBox="1"/>
          <p:nvPr/>
        </p:nvSpPr>
        <p:spPr>
          <a:xfrm>
            <a:off x="4152900" y="5307201"/>
            <a:ext cx="4078500" cy="48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334155"/>
                </a:solidFill>
                <a:latin typeface="Lato"/>
                <a:ea typeface="Lato"/>
                <a:cs typeface="Lato"/>
                <a:sym typeface="Lato"/>
              </a:rPr>
              <a:t>Supervisor: </a:t>
            </a:r>
            <a:r>
              <a:rPr lang="en-US" sz="1200">
                <a:solidFill>
                  <a:srgbClr val="334155"/>
                </a:solidFill>
                <a:latin typeface="Lato"/>
                <a:ea typeface="Lato"/>
                <a:cs typeface="Lato"/>
                <a:sym typeface="Lato"/>
              </a:rPr>
              <a:t>Shumaila Sayyab</a:t>
            </a:r>
            <a:endParaRPr sz="1200">
              <a:solidFill>
                <a:srgbClr val="334155"/>
              </a:solidFill>
              <a:latin typeface="Lato"/>
              <a:ea typeface="Lato"/>
              <a:cs typeface="Lato"/>
              <a:sym typeface="Lato"/>
            </a:endParaRPr>
          </a:p>
          <a:p>
            <a:pPr indent="0" lvl="0" marL="0" marR="0" rtl="0" algn="ctr">
              <a:lnSpc>
                <a:spcPct val="160000"/>
              </a:lnSpc>
              <a:spcBef>
                <a:spcPts val="0"/>
              </a:spcBef>
              <a:spcAft>
                <a:spcPts val="0"/>
              </a:spcAft>
              <a:buNone/>
            </a:pPr>
            <a:r>
              <a:rPr lang="en-US" sz="1200">
                <a:solidFill>
                  <a:srgbClr val="334155"/>
                </a:solidFill>
                <a:latin typeface="Lato"/>
                <a:ea typeface="Lato"/>
                <a:cs typeface="Lato"/>
                <a:sym typeface="Lato"/>
              </a:rPr>
              <a:t>Maria Lerm’s Group (BKV) Linköping University.</a:t>
            </a:r>
            <a:endParaRPr sz="1200">
              <a:solidFill>
                <a:srgbClr val="334155"/>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 name="Google Shape;95;p14"/>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Epigenetics </a:t>
            </a:r>
            <a:endParaRPr/>
          </a:p>
        </p:txBody>
      </p:sp>
      <p:sp>
        <p:nvSpPr>
          <p:cNvPr id="96" name="Google Shape;96;p14"/>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523875" y="1547812"/>
            <a:ext cx="52389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DNA Methylation (DNAme):</a:t>
            </a:r>
            <a:r>
              <a:rPr b="0" i="0" lang="en-US" sz="1500" u="none" cap="none" strike="noStrike">
                <a:solidFill>
                  <a:srgbClr val="334155"/>
                </a:solidFill>
                <a:latin typeface="Lato"/>
                <a:ea typeface="Lato"/>
                <a:cs typeface="Lato"/>
                <a:sym typeface="Lato"/>
              </a:rPr>
              <a:t> </a:t>
            </a:r>
            <a:r>
              <a:rPr lang="en-US" sz="1500">
                <a:solidFill>
                  <a:srgbClr val="334155"/>
                </a:solidFill>
                <a:latin typeface="Lato"/>
                <a:ea typeface="Lato"/>
                <a:cs typeface="Lato"/>
                <a:sym typeface="Lato"/>
              </a:rPr>
              <a:t>M</a:t>
            </a:r>
            <a:r>
              <a:rPr b="0" i="0" lang="en-US" sz="1500" u="none" cap="none" strike="noStrike">
                <a:solidFill>
                  <a:srgbClr val="334155"/>
                </a:solidFill>
                <a:latin typeface="Lato"/>
                <a:ea typeface="Lato"/>
                <a:cs typeface="Lato"/>
                <a:sym typeface="Lato"/>
              </a:rPr>
              <a:t>ethyl group on C5 cytosine that regulates gene expression without changing the sequence.</a:t>
            </a:r>
            <a:endParaRPr/>
          </a:p>
        </p:txBody>
      </p:sp>
      <p:sp>
        <p:nvSpPr>
          <p:cNvPr id="98" name="Google Shape;98;p14"/>
          <p:cNvSpPr txBox="1"/>
          <p:nvPr/>
        </p:nvSpPr>
        <p:spPr>
          <a:xfrm>
            <a:off x="571500" y="5576887"/>
            <a:ext cx="52389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Epigenetics is central to early disease detection and personalized prognosis.</a:t>
            </a:r>
            <a:endParaRPr/>
          </a:p>
        </p:txBody>
      </p:sp>
      <p:sp>
        <p:nvSpPr>
          <p:cNvPr id="99" name="Google Shape;99;p14"/>
          <p:cNvSpPr txBox="1"/>
          <p:nvPr/>
        </p:nvSpPr>
        <p:spPr>
          <a:xfrm>
            <a:off x="952575" y="3948112"/>
            <a:ext cx="4857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Determinant of cell fate and differentiation.</a:t>
            </a:r>
            <a:endParaRPr/>
          </a:p>
        </p:txBody>
      </p:sp>
      <p:sp>
        <p:nvSpPr>
          <p:cNvPr id="100" name="Google Shape;100;p14"/>
          <p:cNvSpPr txBox="1"/>
          <p:nvPr/>
        </p:nvSpPr>
        <p:spPr>
          <a:xfrm>
            <a:off x="952500" y="4443412"/>
            <a:ext cx="4857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Critical response to infection, cancer, and stimuli.</a:t>
            </a:r>
            <a:endParaRPr/>
          </a:p>
        </p:txBody>
      </p:sp>
      <p:sp>
        <p:nvSpPr>
          <p:cNvPr id="101" name="Google Shape;101;p14"/>
          <p:cNvSpPr txBox="1"/>
          <p:nvPr/>
        </p:nvSpPr>
        <p:spPr>
          <a:xfrm>
            <a:off x="952500" y="4967287"/>
            <a:ext cx="4857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Reversible nature enables novel therapies.</a:t>
            </a:r>
            <a:endParaRPr/>
          </a:p>
        </p:txBody>
      </p:sp>
      <p:pic>
        <p:nvPicPr>
          <p:cNvPr descr="image.png" id="102" name="Google Shape;102;p14"/>
          <p:cNvPicPr preferRelativeResize="0"/>
          <p:nvPr/>
        </p:nvPicPr>
        <p:blipFill rotWithShape="1">
          <a:blip r:embed="rId4">
            <a:alphaModFix/>
          </a:blip>
          <a:srcRect b="0" l="0" r="0" t="0"/>
          <a:stretch/>
        </p:blipFill>
        <p:spPr>
          <a:xfrm>
            <a:off x="571500" y="3950525"/>
            <a:ext cx="190500" cy="200025"/>
          </a:xfrm>
          <a:prstGeom prst="rect">
            <a:avLst/>
          </a:prstGeom>
          <a:noFill/>
          <a:ln>
            <a:noFill/>
          </a:ln>
        </p:spPr>
      </p:pic>
      <p:pic>
        <p:nvPicPr>
          <p:cNvPr descr="image.png" id="103" name="Google Shape;103;p14"/>
          <p:cNvPicPr preferRelativeResize="0"/>
          <p:nvPr/>
        </p:nvPicPr>
        <p:blipFill rotWithShape="1">
          <a:blip r:embed="rId5">
            <a:alphaModFix/>
          </a:blip>
          <a:srcRect b="0" l="0" r="0" t="0"/>
          <a:stretch/>
        </p:blipFill>
        <p:spPr>
          <a:xfrm>
            <a:off x="571500" y="4458888"/>
            <a:ext cx="190500" cy="200025"/>
          </a:xfrm>
          <a:prstGeom prst="rect">
            <a:avLst/>
          </a:prstGeom>
          <a:noFill/>
          <a:ln>
            <a:noFill/>
          </a:ln>
        </p:spPr>
      </p:pic>
      <p:pic>
        <p:nvPicPr>
          <p:cNvPr descr="image.png" id="104" name="Google Shape;104;p14"/>
          <p:cNvPicPr preferRelativeResize="0"/>
          <p:nvPr/>
        </p:nvPicPr>
        <p:blipFill rotWithShape="1">
          <a:blip r:embed="rId6">
            <a:alphaModFix/>
          </a:blip>
          <a:srcRect b="0" l="0" r="0" t="0"/>
          <a:stretch/>
        </p:blipFill>
        <p:spPr>
          <a:xfrm>
            <a:off x="581025" y="4967275"/>
            <a:ext cx="171450" cy="200025"/>
          </a:xfrm>
          <a:prstGeom prst="rect">
            <a:avLst/>
          </a:prstGeom>
          <a:noFill/>
          <a:ln>
            <a:noFill/>
          </a:ln>
        </p:spPr>
      </p:pic>
      <p:pic>
        <p:nvPicPr>
          <p:cNvPr id="105" name="Google Shape;105;p14"/>
          <p:cNvPicPr preferRelativeResize="0"/>
          <p:nvPr/>
        </p:nvPicPr>
        <p:blipFill>
          <a:blip r:embed="rId7">
            <a:alphaModFix/>
          </a:blip>
          <a:stretch>
            <a:fillRect/>
          </a:stretch>
        </p:blipFill>
        <p:spPr>
          <a:xfrm>
            <a:off x="1997699" y="2410037"/>
            <a:ext cx="2291250" cy="1153700"/>
          </a:xfrm>
          <a:prstGeom prst="rect">
            <a:avLst/>
          </a:prstGeom>
          <a:noFill/>
          <a:ln>
            <a:noFill/>
          </a:ln>
        </p:spPr>
      </p:pic>
      <p:pic>
        <p:nvPicPr>
          <p:cNvPr id="106" name="Google Shape;106;p14"/>
          <p:cNvPicPr preferRelativeResize="0"/>
          <p:nvPr/>
        </p:nvPicPr>
        <p:blipFill>
          <a:blip r:embed="rId8">
            <a:alphaModFix/>
          </a:blip>
          <a:stretch>
            <a:fillRect/>
          </a:stretch>
        </p:blipFill>
        <p:spPr>
          <a:xfrm>
            <a:off x="6954075" y="2371414"/>
            <a:ext cx="4403874" cy="3629625"/>
          </a:xfrm>
          <a:prstGeom prst="rect">
            <a:avLst/>
          </a:prstGeom>
          <a:noFill/>
          <a:ln>
            <a:noFill/>
          </a:ln>
        </p:spPr>
      </p:pic>
      <p:sp>
        <p:nvSpPr>
          <p:cNvPr id="107" name="Google Shape;107;p14"/>
          <p:cNvSpPr txBox="1"/>
          <p:nvPr/>
        </p:nvSpPr>
        <p:spPr>
          <a:xfrm>
            <a:off x="8124900" y="6477000"/>
            <a:ext cx="4048200" cy="381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700">
                <a:solidFill>
                  <a:schemeClr val="dk1"/>
                </a:solidFill>
                <a:latin typeface="Calibri"/>
                <a:ea typeface="Calibri"/>
                <a:cs typeface="Calibri"/>
                <a:sym typeface="Calibri"/>
              </a:rPr>
              <a:t>Source: ResearchGate</a:t>
            </a:r>
            <a:endParaRPr sz="1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1" name="Shape 111"/>
        <p:cNvGrpSpPr/>
        <p:nvPr/>
      </p:nvGrpSpPr>
      <p:grpSpPr>
        <a:xfrm>
          <a:off x="0" y="0"/>
          <a:ext cx="0" cy="0"/>
          <a:chOff x="0" y="0"/>
          <a:chExt cx="0" cy="0"/>
        </a:xfrm>
      </p:grpSpPr>
      <p:pic>
        <p:nvPicPr>
          <p:cNvPr descr="image.png" id="112" name="Google Shape;112;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3" name="Google Shape;113;p15"/>
          <p:cNvPicPr preferRelativeResize="0"/>
          <p:nvPr/>
        </p:nvPicPr>
        <p:blipFill rotWithShape="1">
          <a:blip r:embed="rId4">
            <a:alphaModFix/>
          </a:blip>
          <a:srcRect b="0" l="0" r="0" t="0"/>
          <a:stretch/>
        </p:blipFill>
        <p:spPr>
          <a:xfrm>
            <a:off x="571500" y="2419350"/>
            <a:ext cx="3492549" cy="3114675"/>
          </a:xfrm>
          <a:prstGeom prst="rect">
            <a:avLst/>
          </a:prstGeom>
          <a:noFill/>
          <a:ln>
            <a:noFill/>
          </a:ln>
        </p:spPr>
      </p:pic>
      <p:pic>
        <p:nvPicPr>
          <p:cNvPr descr="image.png" id="114" name="Google Shape;114;p15"/>
          <p:cNvPicPr preferRelativeResize="0"/>
          <p:nvPr/>
        </p:nvPicPr>
        <p:blipFill rotWithShape="1">
          <a:blip r:embed="rId5">
            <a:alphaModFix/>
          </a:blip>
          <a:srcRect b="0" l="0" r="0" t="0"/>
          <a:stretch/>
        </p:blipFill>
        <p:spPr>
          <a:xfrm>
            <a:off x="4349799" y="2419350"/>
            <a:ext cx="3492549" cy="3114675"/>
          </a:xfrm>
          <a:prstGeom prst="rect">
            <a:avLst/>
          </a:prstGeom>
          <a:noFill/>
          <a:ln>
            <a:noFill/>
          </a:ln>
        </p:spPr>
      </p:pic>
      <p:pic>
        <p:nvPicPr>
          <p:cNvPr descr="image.png" id="115" name="Google Shape;115;p15"/>
          <p:cNvPicPr preferRelativeResize="0"/>
          <p:nvPr/>
        </p:nvPicPr>
        <p:blipFill rotWithShape="1">
          <a:blip r:embed="rId6">
            <a:alphaModFix/>
          </a:blip>
          <a:srcRect b="0" l="0" r="0" t="0"/>
          <a:stretch/>
        </p:blipFill>
        <p:spPr>
          <a:xfrm>
            <a:off x="8128099" y="2419350"/>
            <a:ext cx="3492549" cy="3114675"/>
          </a:xfrm>
          <a:prstGeom prst="rect">
            <a:avLst/>
          </a:prstGeom>
          <a:noFill/>
          <a:ln>
            <a:noFill/>
          </a:ln>
        </p:spPr>
      </p:pic>
      <p:sp>
        <p:nvSpPr>
          <p:cNvPr id="116" name="Google Shape;116;p15"/>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Challenges in Methylation Profiling</a:t>
            </a:r>
            <a:endParaRPr/>
          </a:p>
        </p:txBody>
      </p:sp>
      <p:sp>
        <p:nvSpPr>
          <p:cNvPr id="117" name="Google Shape;117;p15"/>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8" name="Google Shape;118;p15"/>
          <p:cNvPicPr preferRelativeResize="0"/>
          <p:nvPr/>
        </p:nvPicPr>
        <p:blipFill rotWithShape="1">
          <a:blip r:embed="rId7">
            <a:alphaModFix/>
          </a:blip>
          <a:srcRect b="0" l="0" r="0" t="0"/>
          <a:stretch/>
        </p:blipFill>
        <p:spPr>
          <a:xfrm>
            <a:off x="857250" y="2743200"/>
            <a:ext cx="428625" cy="381000"/>
          </a:xfrm>
          <a:prstGeom prst="rect">
            <a:avLst/>
          </a:prstGeom>
          <a:noFill/>
          <a:ln>
            <a:noFill/>
          </a:ln>
        </p:spPr>
      </p:pic>
      <p:sp>
        <p:nvSpPr>
          <p:cNvPr id="119" name="Google Shape;119;p15"/>
          <p:cNvSpPr txBox="1"/>
          <p:nvPr/>
        </p:nvSpPr>
        <p:spPr>
          <a:xfrm>
            <a:off x="857250" y="3314700"/>
            <a:ext cx="306710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8080"/>
                </a:solidFill>
                <a:latin typeface="Poppins"/>
                <a:ea typeface="Poppins"/>
                <a:cs typeface="Poppins"/>
                <a:sym typeface="Poppins"/>
              </a:rPr>
              <a:t>High Cost</a:t>
            </a:r>
            <a:endParaRPr/>
          </a:p>
        </p:txBody>
      </p:sp>
      <p:sp>
        <p:nvSpPr>
          <p:cNvPr id="120" name="Google Shape;120;p15"/>
          <p:cNvSpPr txBox="1"/>
          <p:nvPr/>
        </p:nvSpPr>
        <p:spPr>
          <a:xfrm>
            <a:off x="857250" y="3838575"/>
            <a:ext cx="29211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Whole Genome Bisulphite Sequencing (WGBS) remains expensive for large clinical cohorts (~250</a:t>
            </a:r>
            <a:r>
              <a:rPr lang="en-US" sz="1500">
                <a:solidFill>
                  <a:srgbClr val="334155"/>
                </a:solidFill>
                <a:latin typeface="Lato"/>
                <a:ea typeface="Lato"/>
                <a:cs typeface="Lato"/>
                <a:sym typeface="Lato"/>
              </a:rPr>
              <a:t>$ / sample)</a:t>
            </a:r>
            <a:r>
              <a:rPr b="0" i="0" lang="en-US" sz="1500" u="none" cap="none" strike="noStrike">
                <a:solidFill>
                  <a:srgbClr val="334155"/>
                </a:solidFill>
                <a:latin typeface="Lato"/>
                <a:ea typeface="Lato"/>
                <a:cs typeface="Lato"/>
                <a:sym typeface="Lato"/>
              </a:rPr>
              <a:t>.</a:t>
            </a:r>
            <a:endParaRPr/>
          </a:p>
        </p:txBody>
      </p:sp>
      <p:pic>
        <p:nvPicPr>
          <p:cNvPr descr="image.png" id="121" name="Google Shape;121;p15"/>
          <p:cNvPicPr preferRelativeResize="0"/>
          <p:nvPr/>
        </p:nvPicPr>
        <p:blipFill rotWithShape="1">
          <a:blip r:embed="rId8">
            <a:alphaModFix/>
          </a:blip>
          <a:srcRect b="0" l="0" r="0" t="0"/>
          <a:stretch/>
        </p:blipFill>
        <p:spPr>
          <a:xfrm>
            <a:off x="4635549" y="2743200"/>
            <a:ext cx="476250" cy="381000"/>
          </a:xfrm>
          <a:prstGeom prst="rect">
            <a:avLst/>
          </a:prstGeom>
          <a:noFill/>
          <a:ln>
            <a:noFill/>
          </a:ln>
        </p:spPr>
      </p:pic>
      <p:sp>
        <p:nvSpPr>
          <p:cNvPr id="122" name="Google Shape;122;p15"/>
          <p:cNvSpPr txBox="1"/>
          <p:nvPr/>
        </p:nvSpPr>
        <p:spPr>
          <a:xfrm>
            <a:off x="4635549" y="3314700"/>
            <a:ext cx="306710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8080"/>
                </a:solidFill>
                <a:latin typeface="Poppins"/>
                <a:ea typeface="Poppins"/>
                <a:cs typeface="Poppins"/>
                <a:sym typeface="Poppins"/>
              </a:rPr>
              <a:t>Harsh Treatment</a:t>
            </a:r>
            <a:endParaRPr/>
          </a:p>
        </p:txBody>
      </p:sp>
      <p:sp>
        <p:nvSpPr>
          <p:cNvPr id="123" name="Google Shape;123;p15"/>
          <p:cNvSpPr txBox="1"/>
          <p:nvPr/>
        </p:nvSpPr>
        <p:spPr>
          <a:xfrm>
            <a:off x="4635549" y="3838575"/>
            <a:ext cx="292104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Extreme pH and temperatures in bisulphite conversion can damage rare cell types or liquid biopsies (cfDNA).</a:t>
            </a:r>
            <a:endParaRPr/>
          </a:p>
        </p:txBody>
      </p:sp>
      <p:pic>
        <p:nvPicPr>
          <p:cNvPr descr="image.png" id="124" name="Google Shape;124;p15"/>
          <p:cNvPicPr preferRelativeResize="0"/>
          <p:nvPr/>
        </p:nvPicPr>
        <p:blipFill rotWithShape="1">
          <a:blip r:embed="rId9">
            <a:alphaModFix/>
          </a:blip>
          <a:srcRect b="0" l="0" r="0" t="0"/>
          <a:stretch/>
        </p:blipFill>
        <p:spPr>
          <a:xfrm>
            <a:off x="8413849" y="2743200"/>
            <a:ext cx="381000" cy="381000"/>
          </a:xfrm>
          <a:prstGeom prst="rect">
            <a:avLst/>
          </a:prstGeom>
          <a:noFill/>
          <a:ln>
            <a:noFill/>
          </a:ln>
        </p:spPr>
      </p:pic>
      <p:sp>
        <p:nvSpPr>
          <p:cNvPr id="125" name="Google Shape;125;p15"/>
          <p:cNvSpPr txBox="1"/>
          <p:nvPr/>
        </p:nvSpPr>
        <p:spPr>
          <a:xfrm>
            <a:off x="8413849" y="3314700"/>
            <a:ext cx="3067102"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8080"/>
                </a:solidFill>
                <a:latin typeface="Poppins"/>
                <a:ea typeface="Poppins"/>
                <a:cs typeface="Poppins"/>
                <a:sym typeface="Poppins"/>
              </a:rPr>
              <a:t>Batch Effects</a:t>
            </a:r>
            <a:endParaRPr/>
          </a:p>
        </p:txBody>
      </p:sp>
      <p:sp>
        <p:nvSpPr>
          <p:cNvPr id="126" name="Google Shape;126;p15"/>
          <p:cNvSpPr txBox="1"/>
          <p:nvPr/>
        </p:nvSpPr>
        <p:spPr>
          <a:xfrm>
            <a:off x="8413849" y="3838575"/>
            <a:ext cx="292104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Significant technical variability requires mathematical corrections that may obscure true biological signals.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0" name="Shape 130"/>
        <p:cNvGrpSpPr/>
        <p:nvPr/>
      </p:nvGrpSpPr>
      <p:grpSpPr>
        <a:xfrm>
          <a:off x="0" y="0"/>
          <a:ext cx="0" cy="0"/>
          <a:chOff x="0" y="0"/>
          <a:chExt cx="0" cy="0"/>
        </a:xfrm>
      </p:grpSpPr>
      <p:pic>
        <p:nvPicPr>
          <p:cNvPr descr="image.png" id="131" name="Google Shape;131;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2" name="Google Shape;132;p16"/>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Quantitative Multiplexing (MINUTE)</a:t>
            </a:r>
            <a:endParaRPr/>
          </a:p>
        </p:txBody>
      </p:sp>
      <p:sp>
        <p:nvSpPr>
          <p:cNvPr id="133" name="Google Shape;133;p16"/>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6381750" y="2447925"/>
            <a:ext cx="550068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02147"/>
                </a:solidFill>
                <a:latin typeface="Poppins"/>
                <a:ea typeface="Poppins"/>
                <a:cs typeface="Poppins"/>
                <a:sym typeface="Poppins"/>
              </a:rPr>
              <a:t>Physical Multiplexing Strategy</a:t>
            </a:r>
            <a:endParaRPr/>
          </a:p>
        </p:txBody>
      </p:sp>
      <p:sp>
        <p:nvSpPr>
          <p:cNvPr id="135" name="Google Shape;135;p16"/>
          <p:cNvSpPr txBox="1"/>
          <p:nvPr/>
        </p:nvSpPr>
        <p:spPr>
          <a:xfrm>
            <a:off x="6381750" y="2914650"/>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Adapting the </a:t>
            </a:r>
            <a:r>
              <a:rPr b="1" i="0" lang="en-US" sz="1500" u="none" cap="none" strike="noStrike">
                <a:solidFill>
                  <a:srgbClr val="334155"/>
                </a:solidFill>
                <a:latin typeface="Lato"/>
                <a:ea typeface="Lato"/>
                <a:cs typeface="Lato"/>
                <a:sym typeface="Lato"/>
              </a:rPr>
              <a:t>MINUTE-ChIP</a:t>
            </a:r>
            <a:r>
              <a:rPr b="0" i="0" lang="en-US" sz="1500" u="none" cap="none" strike="noStrike">
                <a:solidFill>
                  <a:srgbClr val="334155"/>
                </a:solidFill>
                <a:latin typeface="Lato"/>
                <a:ea typeface="Lato"/>
                <a:cs typeface="Lato"/>
                <a:sym typeface="Lato"/>
              </a:rPr>
              <a:t> pipeline (originally for histone marks) to standardized DNA methylation analysis.</a:t>
            </a:r>
            <a:endParaRPr/>
          </a:p>
        </p:txBody>
      </p:sp>
      <p:sp>
        <p:nvSpPr>
          <p:cNvPr id="136" name="Google Shape;136;p16"/>
          <p:cNvSpPr txBox="1"/>
          <p:nvPr/>
        </p:nvSpPr>
        <p:spPr>
          <a:xfrm>
            <a:off x="6762750" y="3714750"/>
            <a:ext cx="4857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Efficiency:</a:t>
            </a:r>
            <a:r>
              <a:rPr b="0" i="0" lang="en-US" sz="1500" u="none" cap="none" strike="noStrike">
                <a:solidFill>
                  <a:srgbClr val="334155"/>
                </a:solidFill>
                <a:latin typeface="Lato"/>
                <a:ea typeface="Lato"/>
                <a:cs typeface="Lato"/>
                <a:sym typeface="Lato"/>
              </a:rPr>
              <a:t> Up to 12 samples analyzed simultaneously.</a:t>
            </a:r>
            <a:endParaRPr/>
          </a:p>
        </p:txBody>
      </p:sp>
      <p:sp>
        <p:nvSpPr>
          <p:cNvPr id="137" name="Google Shape;137;p16"/>
          <p:cNvSpPr txBox="1"/>
          <p:nvPr/>
        </p:nvSpPr>
        <p:spPr>
          <a:xfrm>
            <a:off x="6762750" y="4210050"/>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Precision:</a:t>
            </a:r>
            <a:r>
              <a:rPr b="0" i="0" lang="en-US" sz="1500" u="none" cap="none" strike="noStrike">
                <a:solidFill>
                  <a:srgbClr val="334155"/>
                </a:solidFill>
                <a:latin typeface="Lato"/>
                <a:ea typeface="Lato"/>
                <a:cs typeface="Lato"/>
                <a:sym typeface="Lato"/>
              </a:rPr>
              <a:t> Reduces batch effects at the source through physical pooling.</a:t>
            </a:r>
            <a:endParaRPr/>
          </a:p>
        </p:txBody>
      </p:sp>
      <p:sp>
        <p:nvSpPr>
          <p:cNvPr id="138" name="Google Shape;138;p16"/>
          <p:cNvSpPr txBox="1"/>
          <p:nvPr/>
        </p:nvSpPr>
        <p:spPr>
          <a:xfrm>
            <a:off x="6762750" y="5010150"/>
            <a:ext cx="4857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Scalable:</a:t>
            </a:r>
            <a:r>
              <a:rPr b="0" i="0" lang="en-US" sz="1500" u="none" cap="none" strike="noStrike">
                <a:solidFill>
                  <a:srgbClr val="334155"/>
                </a:solidFill>
                <a:latin typeface="Lato"/>
                <a:ea typeface="Lato"/>
                <a:cs typeface="Lato"/>
                <a:sym typeface="Lato"/>
              </a:rPr>
              <a:t> Reproducible workflow for clinical discovery.</a:t>
            </a:r>
            <a:endParaRPr/>
          </a:p>
        </p:txBody>
      </p:sp>
      <p:pic>
        <p:nvPicPr>
          <p:cNvPr descr="image.png" id="139" name="Google Shape;139;p16"/>
          <p:cNvPicPr preferRelativeResize="0"/>
          <p:nvPr/>
        </p:nvPicPr>
        <p:blipFill rotWithShape="1">
          <a:blip r:embed="rId4">
            <a:alphaModFix/>
          </a:blip>
          <a:srcRect b="0" l="0" r="0" t="0"/>
          <a:stretch/>
        </p:blipFill>
        <p:spPr>
          <a:xfrm>
            <a:off x="6381750" y="3757612"/>
            <a:ext cx="171450" cy="200025"/>
          </a:xfrm>
          <a:prstGeom prst="rect">
            <a:avLst/>
          </a:prstGeom>
          <a:noFill/>
          <a:ln>
            <a:noFill/>
          </a:ln>
        </p:spPr>
      </p:pic>
      <p:pic>
        <p:nvPicPr>
          <p:cNvPr descr="image.png" id="140" name="Google Shape;140;p16"/>
          <p:cNvPicPr preferRelativeResize="0"/>
          <p:nvPr/>
        </p:nvPicPr>
        <p:blipFill rotWithShape="1">
          <a:blip r:embed="rId4">
            <a:alphaModFix/>
          </a:blip>
          <a:srcRect b="0" l="0" r="0" t="0"/>
          <a:stretch/>
        </p:blipFill>
        <p:spPr>
          <a:xfrm>
            <a:off x="6381750" y="4252912"/>
            <a:ext cx="171450" cy="200025"/>
          </a:xfrm>
          <a:prstGeom prst="rect">
            <a:avLst/>
          </a:prstGeom>
          <a:noFill/>
          <a:ln>
            <a:noFill/>
          </a:ln>
        </p:spPr>
      </p:pic>
      <p:pic>
        <p:nvPicPr>
          <p:cNvPr descr="image.png" id="141" name="Google Shape;141;p16"/>
          <p:cNvPicPr preferRelativeResize="0"/>
          <p:nvPr/>
        </p:nvPicPr>
        <p:blipFill rotWithShape="1">
          <a:blip r:embed="rId4">
            <a:alphaModFix/>
          </a:blip>
          <a:srcRect b="0" l="0" r="0" t="0"/>
          <a:stretch/>
        </p:blipFill>
        <p:spPr>
          <a:xfrm>
            <a:off x="6381750" y="5053012"/>
            <a:ext cx="171450" cy="200025"/>
          </a:xfrm>
          <a:prstGeom prst="rect">
            <a:avLst/>
          </a:prstGeom>
          <a:noFill/>
          <a:ln>
            <a:noFill/>
          </a:ln>
        </p:spPr>
      </p:pic>
      <p:pic>
        <p:nvPicPr>
          <p:cNvPr id="142" name="Google Shape;142;p16"/>
          <p:cNvPicPr preferRelativeResize="0"/>
          <p:nvPr/>
        </p:nvPicPr>
        <p:blipFill>
          <a:blip r:embed="rId5">
            <a:alphaModFix/>
          </a:blip>
          <a:stretch>
            <a:fillRect/>
          </a:stretch>
        </p:blipFill>
        <p:spPr>
          <a:xfrm>
            <a:off x="913550" y="1564250"/>
            <a:ext cx="4154649" cy="5207075"/>
          </a:xfrm>
          <a:prstGeom prst="rect">
            <a:avLst/>
          </a:prstGeom>
          <a:noFill/>
          <a:ln>
            <a:noFill/>
          </a:ln>
        </p:spPr>
      </p:pic>
      <p:pic>
        <p:nvPicPr>
          <p:cNvPr id="143" name="Google Shape;143;p16"/>
          <p:cNvPicPr preferRelativeResize="0"/>
          <p:nvPr/>
        </p:nvPicPr>
        <p:blipFill>
          <a:blip r:embed="rId6">
            <a:alphaModFix/>
          </a:blip>
          <a:stretch>
            <a:fillRect/>
          </a:stretch>
        </p:blipFill>
        <p:spPr>
          <a:xfrm>
            <a:off x="8100575" y="188112"/>
            <a:ext cx="4006933" cy="1385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7" name="Shape 147"/>
        <p:cNvGrpSpPr/>
        <p:nvPr/>
      </p:nvGrpSpPr>
      <p:grpSpPr>
        <a:xfrm>
          <a:off x="0" y="0"/>
          <a:ext cx="0" cy="0"/>
          <a:chOff x="0" y="0"/>
          <a:chExt cx="0" cy="0"/>
        </a:xfrm>
      </p:grpSpPr>
      <p:pic>
        <p:nvPicPr>
          <p:cNvPr descr="image.png" id="148" name="Google Shape;148;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9" name="Google Shape;149;p17"/>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Project Objectives &amp; Scope</a:t>
            </a:r>
            <a:endParaRPr/>
          </a:p>
        </p:txBody>
      </p:sp>
      <p:sp>
        <p:nvSpPr>
          <p:cNvPr id="150" name="Google Shape;150;p17"/>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7"/>
          <p:cNvSpPr txBox="1"/>
          <p:nvPr/>
        </p:nvSpPr>
        <p:spPr>
          <a:xfrm>
            <a:off x="952500" y="2852737"/>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Re-engineer</a:t>
            </a:r>
            <a:r>
              <a:rPr b="0" i="0" lang="en-US" sz="1500" u="none" cap="none" strike="noStrike">
                <a:solidFill>
                  <a:srgbClr val="334155"/>
                </a:solidFill>
                <a:latin typeface="Lato"/>
                <a:ea typeface="Lato"/>
                <a:cs typeface="Lato"/>
                <a:sym typeface="Lato"/>
              </a:rPr>
              <a:t> the MINUTE pipeline for Methyl-CpG-Binding Domain (MBD) capture data.</a:t>
            </a:r>
            <a:endParaRPr/>
          </a:p>
        </p:txBody>
      </p:sp>
      <p:sp>
        <p:nvSpPr>
          <p:cNvPr id="152" name="Google Shape;152;p17"/>
          <p:cNvSpPr txBox="1"/>
          <p:nvPr/>
        </p:nvSpPr>
        <p:spPr>
          <a:xfrm>
            <a:off x="952500" y="3652837"/>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Compare</a:t>
            </a:r>
            <a:r>
              <a:rPr b="0" i="0" lang="en-US" sz="1500" u="none" cap="none" strike="noStrike">
                <a:solidFill>
                  <a:srgbClr val="334155"/>
                </a:solidFill>
                <a:latin typeface="Lato"/>
                <a:ea typeface="Lato"/>
                <a:cs typeface="Lato"/>
                <a:sym typeface="Lato"/>
              </a:rPr>
              <a:t> performance against the "Gold Standard" Illumina MethylationEPIC 850k array.</a:t>
            </a:r>
            <a:endParaRPr/>
          </a:p>
        </p:txBody>
      </p:sp>
      <p:sp>
        <p:nvSpPr>
          <p:cNvPr id="153" name="Google Shape;153;p17"/>
          <p:cNvSpPr txBox="1"/>
          <p:nvPr/>
        </p:nvSpPr>
        <p:spPr>
          <a:xfrm>
            <a:off x="952500" y="4452937"/>
            <a:ext cx="48579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Validate</a:t>
            </a:r>
            <a:r>
              <a:rPr b="0" i="0" lang="en-US" sz="1500" u="none" cap="none" strike="noStrike">
                <a:solidFill>
                  <a:srgbClr val="334155"/>
                </a:solidFill>
                <a:latin typeface="Lato"/>
                <a:ea typeface="Lato"/>
                <a:cs typeface="Lato"/>
                <a:sym typeface="Lato"/>
              </a:rPr>
              <a:t> </a:t>
            </a:r>
            <a:r>
              <a:rPr lang="en-US" sz="1500">
                <a:solidFill>
                  <a:srgbClr val="334155"/>
                </a:solidFill>
                <a:latin typeface="Lato"/>
                <a:ea typeface="Lato"/>
                <a:cs typeface="Lato"/>
                <a:sym typeface="Lato"/>
              </a:rPr>
              <a:t>the biology </a:t>
            </a:r>
            <a:r>
              <a:rPr b="0" i="0" lang="en-US" sz="1500" u="none" cap="none" strike="noStrike">
                <a:solidFill>
                  <a:srgbClr val="334155"/>
                </a:solidFill>
                <a:latin typeface="Lato"/>
                <a:ea typeface="Lato"/>
                <a:cs typeface="Lato"/>
                <a:sym typeface="Lato"/>
              </a:rPr>
              <a:t>(Methylated vs. Unmethylated gene lists).</a:t>
            </a:r>
            <a:endParaRPr/>
          </a:p>
        </p:txBody>
      </p:sp>
      <p:pic>
        <p:nvPicPr>
          <p:cNvPr descr="image.png" id="154" name="Google Shape;154;p17"/>
          <p:cNvPicPr preferRelativeResize="0"/>
          <p:nvPr/>
        </p:nvPicPr>
        <p:blipFill rotWithShape="1">
          <a:blip r:embed="rId4">
            <a:alphaModFix/>
          </a:blip>
          <a:srcRect b="0" l="0" r="0" t="0"/>
          <a:stretch/>
        </p:blipFill>
        <p:spPr>
          <a:xfrm>
            <a:off x="571500" y="2895600"/>
            <a:ext cx="190500" cy="200025"/>
          </a:xfrm>
          <a:prstGeom prst="rect">
            <a:avLst/>
          </a:prstGeom>
          <a:noFill/>
          <a:ln>
            <a:noFill/>
          </a:ln>
        </p:spPr>
      </p:pic>
      <p:pic>
        <p:nvPicPr>
          <p:cNvPr descr="image.png" id="155" name="Google Shape;155;p17"/>
          <p:cNvPicPr preferRelativeResize="0"/>
          <p:nvPr/>
        </p:nvPicPr>
        <p:blipFill rotWithShape="1">
          <a:blip r:embed="rId5">
            <a:alphaModFix/>
          </a:blip>
          <a:srcRect b="0" l="0" r="0" t="0"/>
          <a:stretch/>
        </p:blipFill>
        <p:spPr>
          <a:xfrm>
            <a:off x="571500" y="3695700"/>
            <a:ext cx="190500" cy="200025"/>
          </a:xfrm>
          <a:prstGeom prst="rect">
            <a:avLst/>
          </a:prstGeom>
          <a:noFill/>
          <a:ln>
            <a:noFill/>
          </a:ln>
        </p:spPr>
      </p:pic>
      <p:pic>
        <p:nvPicPr>
          <p:cNvPr descr="image.png" id="156" name="Google Shape;156;p17"/>
          <p:cNvPicPr preferRelativeResize="0"/>
          <p:nvPr/>
        </p:nvPicPr>
        <p:blipFill rotWithShape="1">
          <a:blip r:embed="rId6">
            <a:alphaModFix/>
          </a:blip>
          <a:srcRect b="0" l="0" r="0" t="0"/>
          <a:stretch/>
        </p:blipFill>
        <p:spPr>
          <a:xfrm>
            <a:off x="571500" y="4495800"/>
            <a:ext cx="190500" cy="200025"/>
          </a:xfrm>
          <a:prstGeom prst="rect">
            <a:avLst/>
          </a:prstGeom>
          <a:noFill/>
          <a:ln>
            <a:noFill/>
          </a:ln>
        </p:spPr>
      </p:pic>
      <p:pic>
        <p:nvPicPr>
          <p:cNvPr id="157" name="Google Shape;157;p17"/>
          <p:cNvPicPr preferRelativeResize="0"/>
          <p:nvPr/>
        </p:nvPicPr>
        <p:blipFill>
          <a:blip r:embed="rId7">
            <a:alphaModFix/>
          </a:blip>
          <a:stretch>
            <a:fillRect/>
          </a:stretch>
        </p:blipFill>
        <p:spPr>
          <a:xfrm>
            <a:off x="7619975" y="3095625"/>
            <a:ext cx="4572014" cy="3429000"/>
          </a:xfrm>
          <a:prstGeom prst="rect">
            <a:avLst/>
          </a:prstGeom>
          <a:noFill/>
          <a:ln>
            <a:noFill/>
          </a:ln>
        </p:spPr>
      </p:pic>
      <p:sp>
        <p:nvSpPr>
          <p:cNvPr id="158" name="Google Shape;158;p17"/>
          <p:cNvSpPr txBox="1"/>
          <p:nvPr/>
        </p:nvSpPr>
        <p:spPr>
          <a:xfrm>
            <a:off x="7799700" y="6492000"/>
            <a:ext cx="43923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Source: https://en.wikipedia.org/wiki/Illumina_Methylation_Assay</a:t>
            </a:r>
            <a:endParaRPr sz="1200">
              <a:solidFill>
                <a:schemeClr val="dk1"/>
              </a:solidFill>
              <a:latin typeface="Calibri"/>
              <a:ea typeface="Calibri"/>
              <a:cs typeface="Calibri"/>
              <a:sym typeface="Calibri"/>
            </a:endParaRPr>
          </a:p>
        </p:txBody>
      </p:sp>
      <p:pic>
        <p:nvPicPr>
          <p:cNvPr id="159" name="Google Shape;159;p17"/>
          <p:cNvPicPr preferRelativeResize="0"/>
          <p:nvPr/>
        </p:nvPicPr>
        <p:blipFill>
          <a:blip r:embed="rId8">
            <a:alphaModFix/>
          </a:blip>
          <a:stretch>
            <a:fillRect/>
          </a:stretch>
        </p:blipFill>
        <p:spPr>
          <a:xfrm>
            <a:off x="7642837" y="204800"/>
            <a:ext cx="4526295" cy="2890824"/>
          </a:xfrm>
          <a:prstGeom prst="rect">
            <a:avLst/>
          </a:prstGeom>
          <a:noFill/>
          <a:ln>
            <a:noFill/>
          </a:ln>
        </p:spPr>
      </p:pic>
      <p:cxnSp>
        <p:nvCxnSpPr>
          <p:cNvPr id="160" name="Google Shape;160;p17"/>
          <p:cNvCxnSpPr/>
          <p:nvPr/>
        </p:nvCxnSpPr>
        <p:spPr>
          <a:xfrm flipH="1" rot="10800000">
            <a:off x="4018237" y="2411912"/>
            <a:ext cx="3891600" cy="818400"/>
          </a:xfrm>
          <a:prstGeom prst="straightConnector1">
            <a:avLst/>
          </a:prstGeom>
          <a:noFill/>
          <a:ln cap="flat" cmpd="sng" w="9525">
            <a:solidFill>
              <a:srgbClr val="B4A7D6"/>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4" name="Shape 164"/>
        <p:cNvGrpSpPr/>
        <p:nvPr/>
      </p:nvGrpSpPr>
      <p:grpSpPr>
        <a:xfrm>
          <a:off x="0" y="0"/>
          <a:ext cx="0" cy="0"/>
          <a:chOff x="0" y="0"/>
          <a:chExt cx="0" cy="0"/>
        </a:xfrm>
      </p:grpSpPr>
      <p:pic>
        <p:nvPicPr>
          <p:cNvPr descr="image.png" id="165" name="Google Shape;165;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6" name="Google Shape;166;p18"/>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Experimental </a:t>
            </a:r>
            <a:r>
              <a:rPr b="1" lang="en-US" sz="3150">
                <a:solidFill>
                  <a:srgbClr val="002147"/>
                </a:solidFill>
                <a:latin typeface="Poppins"/>
                <a:ea typeface="Poppins"/>
                <a:cs typeface="Poppins"/>
                <a:sym typeface="Poppins"/>
              </a:rPr>
              <a:t>Design</a:t>
            </a:r>
            <a:r>
              <a:rPr b="1" i="0" lang="en-US" sz="3150" u="none" cap="none" strike="noStrike">
                <a:solidFill>
                  <a:srgbClr val="002147"/>
                </a:solidFill>
                <a:latin typeface="Poppins"/>
                <a:ea typeface="Poppins"/>
                <a:cs typeface="Poppins"/>
                <a:sym typeface="Poppins"/>
              </a:rPr>
              <a:t>: M1-M4</a:t>
            </a:r>
            <a:endParaRPr/>
          </a:p>
        </p:txBody>
      </p:sp>
      <p:sp>
        <p:nvSpPr>
          <p:cNvPr id="167" name="Google Shape;167;p18"/>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68" name="Google Shape;168;p18"/>
          <p:cNvGraphicFramePr/>
          <p:nvPr/>
        </p:nvGraphicFramePr>
        <p:xfrm>
          <a:off x="571500" y="2576512"/>
          <a:ext cx="3000000" cy="3000000"/>
        </p:xfrm>
        <a:graphic>
          <a:graphicData uri="http://schemas.openxmlformats.org/drawingml/2006/table">
            <a:tbl>
              <a:tblPr bandRow="1" firstRow="1">
                <a:noFill/>
                <a:tableStyleId>{077534B9-47D7-4243-9989-0C66526683FC}</a:tableStyleId>
              </a:tblPr>
              <a:tblGrid>
                <a:gridCol w="2326025"/>
                <a:gridCol w="2490350"/>
                <a:gridCol w="6232625"/>
              </a:tblGrid>
              <a:tr h="598175">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Condition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147"/>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Target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147"/>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Function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147"/>
                    </a:solid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M1 (Input)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Total DNA (no s</a:t>
                      </a:r>
                      <a:r>
                        <a:rPr lang="en-US" sz="1500">
                          <a:solidFill>
                            <a:srgbClr val="334155"/>
                          </a:solidFill>
                          <a:latin typeface="Lato"/>
                          <a:ea typeface="Lato"/>
                          <a:cs typeface="Lato"/>
                          <a:sym typeface="Lato"/>
                        </a:rPr>
                        <a:t>election)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Baseline control; read spread across entire genome.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M2 (In-house)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Methylated CpG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lang="en-US" sz="1500">
                          <a:solidFill>
                            <a:srgbClr val="334155"/>
                          </a:solidFill>
                          <a:latin typeface="Lato"/>
                          <a:ea typeface="Lato"/>
                          <a:cs typeface="Lato"/>
                          <a:sym typeface="Lato"/>
                        </a:rPr>
                        <a:t>Epigenica’s in-house </a:t>
                      </a:r>
                      <a:r>
                        <a:rPr b="0" i="0" lang="en-US" sz="1500" u="none" cap="none" strike="noStrike">
                          <a:solidFill>
                            <a:srgbClr val="334155"/>
                          </a:solidFill>
                          <a:latin typeface="Lato"/>
                          <a:ea typeface="Lato"/>
                          <a:cs typeface="Lato"/>
                          <a:sym typeface="Lato"/>
                        </a:rPr>
                        <a:t>MBD</a:t>
                      </a:r>
                      <a:r>
                        <a:rPr lang="en-US" sz="1500">
                          <a:solidFill>
                            <a:srgbClr val="334155"/>
                          </a:solidFill>
                          <a:latin typeface="Lato"/>
                          <a:ea typeface="Lato"/>
                          <a:cs typeface="Lato"/>
                          <a:sym typeface="Lato"/>
                        </a:rPr>
                        <a:t> protein </a:t>
                      </a:r>
                      <a:r>
                        <a:rPr b="0" i="0" lang="en-US" sz="1500" u="none" cap="none" strike="noStrike">
                          <a:solidFill>
                            <a:srgbClr val="334155"/>
                          </a:solidFill>
                          <a:latin typeface="Lato"/>
                          <a:ea typeface="Lato"/>
                          <a:cs typeface="Lato"/>
                          <a:sym typeface="Lato"/>
                        </a:rPr>
                        <a:t>for validation.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M3 (CXXC)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Unmethylated CpG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Mirror-image validation of active promoter status.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M4 (Commercial)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Methylated CpG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lang="en-US" sz="1500">
                          <a:solidFill>
                            <a:srgbClr val="334155"/>
                          </a:solidFill>
                          <a:latin typeface="Lato"/>
                          <a:ea typeface="Lato"/>
                          <a:cs typeface="Lato"/>
                          <a:sym typeface="Lato"/>
                        </a:rPr>
                        <a:t>S</a:t>
                      </a:r>
                      <a:r>
                        <a:rPr b="0" i="0" lang="en-US" sz="1500" u="none" cap="none" strike="noStrike">
                          <a:solidFill>
                            <a:srgbClr val="334155"/>
                          </a:solidFill>
                          <a:latin typeface="Lato"/>
                          <a:ea typeface="Lato"/>
                          <a:cs typeface="Lato"/>
                          <a:sym typeface="Lato"/>
                        </a:rPr>
                        <a:t>tandard commercial MBD </a:t>
                      </a:r>
                      <a:r>
                        <a:rPr lang="en-US" sz="1500">
                          <a:solidFill>
                            <a:srgbClr val="334155"/>
                          </a:solidFill>
                          <a:latin typeface="Lato"/>
                          <a:ea typeface="Lato"/>
                          <a:cs typeface="Lato"/>
                          <a:sym typeface="Lato"/>
                        </a:rPr>
                        <a:t>protein</a:t>
                      </a:r>
                      <a:r>
                        <a:rPr b="0" i="0" lang="en-US" sz="1500" u="none" cap="none" strike="noStrike">
                          <a:solidFill>
                            <a:srgbClr val="334155"/>
                          </a:solidFill>
                          <a:latin typeface="Lato"/>
                          <a:ea typeface="Lato"/>
                          <a:cs typeface="Lato"/>
                          <a:sym typeface="Lato"/>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169" name="Google Shape;169;p18"/>
          <p:cNvSpPr/>
          <p:nvPr/>
        </p:nvSpPr>
        <p:spPr>
          <a:xfrm>
            <a:off x="571500" y="3752850"/>
            <a:ext cx="2326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8"/>
          <p:cNvSpPr/>
          <p:nvPr/>
        </p:nvSpPr>
        <p:spPr>
          <a:xfrm>
            <a:off x="2897534" y="3752850"/>
            <a:ext cx="24903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8"/>
          <p:cNvSpPr/>
          <p:nvPr/>
        </p:nvSpPr>
        <p:spPr>
          <a:xfrm>
            <a:off x="5387875" y="3752850"/>
            <a:ext cx="62326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8"/>
          <p:cNvSpPr/>
          <p:nvPr/>
        </p:nvSpPr>
        <p:spPr>
          <a:xfrm>
            <a:off x="571500" y="4352925"/>
            <a:ext cx="2326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p:nvPr/>
        </p:nvSpPr>
        <p:spPr>
          <a:xfrm>
            <a:off x="2897534" y="4352925"/>
            <a:ext cx="24903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p:nvPr/>
        </p:nvSpPr>
        <p:spPr>
          <a:xfrm>
            <a:off x="5387875" y="4352925"/>
            <a:ext cx="62326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8"/>
          <p:cNvSpPr/>
          <p:nvPr/>
        </p:nvSpPr>
        <p:spPr>
          <a:xfrm>
            <a:off x="571500" y="4953000"/>
            <a:ext cx="2326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8"/>
          <p:cNvSpPr/>
          <p:nvPr/>
        </p:nvSpPr>
        <p:spPr>
          <a:xfrm>
            <a:off x="2897534" y="4953000"/>
            <a:ext cx="24903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8"/>
          <p:cNvSpPr/>
          <p:nvPr/>
        </p:nvSpPr>
        <p:spPr>
          <a:xfrm>
            <a:off x="5387875" y="4953000"/>
            <a:ext cx="62326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p:nvPr/>
        </p:nvSpPr>
        <p:spPr>
          <a:xfrm>
            <a:off x="571500" y="5553075"/>
            <a:ext cx="2326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8"/>
          <p:cNvSpPr/>
          <p:nvPr/>
        </p:nvSpPr>
        <p:spPr>
          <a:xfrm>
            <a:off x="2897534" y="5553075"/>
            <a:ext cx="24903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8"/>
          <p:cNvSpPr/>
          <p:nvPr/>
        </p:nvSpPr>
        <p:spPr>
          <a:xfrm>
            <a:off x="5387875" y="5553075"/>
            <a:ext cx="62326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19" title="Project workflow.png"/>
          <p:cNvPicPr preferRelativeResize="0"/>
          <p:nvPr/>
        </p:nvPicPr>
        <p:blipFill>
          <a:blip r:embed="rId3">
            <a:alphaModFix/>
          </a:blip>
          <a:stretch>
            <a:fillRect/>
          </a:stretch>
        </p:blipFill>
        <p:spPr>
          <a:xfrm>
            <a:off x="2915275" y="0"/>
            <a:ext cx="6017497" cy="6857999"/>
          </a:xfrm>
          <a:prstGeom prst="rect">
            <a:avLst/>
          </a:prstGeom>
          <a:noFill/>
          <a:ln>
            <a:noFill/>
          </a:ln>
        </p:spPr>
      </p:pic>
      <p:sp>
        <p:nvSpPr>
          <p:cNvPr id="186" name="Google Shape;186;p19"/>
          <p:cNvSpPr txBox="1"/>
          <p:nvPr/>
        </p:nvSpPr>
        <p:spPr>
          <a:xfrm>
            <a:off x="228600" y="165425"/>
            <a:ext cx="2119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002147"/>
                </a:solidFill>
                <a:latin typeface="Poppins"/>
                <a:ea typeface="Poppins"/>
                <a:cs typeface="Poppins"/>
                <a:sym typeface="Poppins"/>
              </a:rPr>
              <a:t>Workflow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0" name="Shape 190"/>
        <p:cNvGrpSpPr/>
        <p:nvPr/>
      </p:nvGrpSpPr>
      <p:grpSpPr>
        <a:xfrm>
          <a:off x="0" y="0"/>
          <a:ext cx="0" cy="0"/>
          <a:chOff x="0" y="0"/>
          <a:chExt cx="0" cy="0"/>
        </a:xfrm>
      </p:grpSpPr>
      <p:pic>
        <p:nvPicPr>
          <p:cNvPr descr="image.png" id="191" name="Google Shape;191;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2" name="Google Shape;192;p20"/>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The Bioinformatics</a:t>
            </a:r>
            <a:r>
              <a:rPr b="1" lang="en-US" sz="3150">
                <a:solidFill>
                  <a:srgbClr val="002147"/>
                </a:solidFill>
                <a:latin typeface="Poppins"/>
                <a:ea typeface="Poppins"/>
                <a:cs typeface="Poppins"/>
                <a:sym typeface="Poppins"/>
              </a:rPr>
              <a:t>: MINUTE init? and deepTools</a:t>
            </a:r>
            <a:endParaRPr/>
          </a:p>
        </p:txBody>
      </p:sp>
      <p:sp>
        <p:nvSpPr>
          <p:cNvPr id="193" name="Google Shape;193;p20"/>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0"/>
          <p:cNvSpPr txBox="1"/>
          <p:nvPr/>
        </p:nvSpPr>
        <p:spPr>
          <a:xfrm>
            <a:off x="952500" y="2909875"/>
            <a:ext cx="5194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Alignment:</a:t>
            </a:r>
            <a:r>
              <a:rPr b="0" i="0" lang="en-US" sz="1500" u="none" cap="none" strike="noStrike">
                <a:solidFill>
                  <a:srgbClr val="334155"/>
                </a:solidFill>
                <a:latin typeface="Lato"/>
                <a:ea typeface="Lato"/>
                <a:cs typeface="Lato"/>
                <a:sym typeface="Lato"/>
              </a:rPr>
              <a:t> Bowtie2 mapping to hg19 with ENCODE blacklist filtering.</a:t>
            </a:r>
            <a:endParaRPr/>
          </a:p>
        </p:txBody>
      </p:sp>
      <p:sp>
        <p:nvSpPr>
          <p:cNvPr id="195" name="Google Shape;195;p20"/>
          <p:cNvSpPr txBox="1"/>
          <p:nvPr/>
        </p:nvSpPr>
        <p:spPr>
          <a:xfrm>
            <a:off x="952500" y="4195775"/>
            <a:ext cx="4857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Peak Calling:</a:t>
            </a:r>
            <a:r>
              <a:rPr b="0" i="0" lang="en-US" sz="1500" u="none" cap="none" strike="noStrike">
                <a:solidFill>
                  <a:srgbClr val="334155"/>
                </a:solidFill>
                <a:latin typeface="Lato"/>
                <a:ea typeface="Lato"/>
                <a:cs typeface="Lato"/>
                <a:sym typeface="Lato"/>
              </a:rPr>
              <a:t> MACS3 regional enrichment detection.</a:t>
            </a:r>
            <a:endParaRPr/>
          </a:p>
        </p:txBody>
      </p:sp>
      <p:sp>
        <p:nvSpPr>
          <p:cNvPr id="196" name="Google Shape;196;p20"/>
          <p:cNvSpPr txBox="1"/>
          <p:nvPr/>
        </p:nvSpPr>
        <p:spPr>
          <a:xfrm>
            <a:off x="952500" y="3742125"/>
            <a:ext cx="51948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Analysis:</a:t>
            </a:r>
            <a:r>
              <a:rPr b="0" i="0" lang="en-US" sz="1500" u="none" cap="none" strike="noStrike">
                <a:solidFill>
                  <a:srgbClr val="334155"/>
                </a:solidFill>
                <a:latin typeface="Lato"/>
                <a:ea typeface="Lato"/>
                <a:cs typeface="Lato"/>
                <a:sym typeface="Lato"/>
              </a:rPr>
              <a:t> deepTools for </a:t>
            </a:r>
            <a:r>
              <a:rPr lang="en-US" sz="1500">
                <a:solidFill>
                  <a:srgbClr val="334155"/>
                </a:solidFill>
                <a:latin typeface="Lato"/>
                <a:ea typeface="Lato"/>
                <a:cs typeface="Lato"/>
                <a:sym typeface="Lato"/>
              </a:rPr>
              <a:t>downstream analysis and visualization.</a:t>
            </a:r>
            <a:endParaRPr/>
          </a:p>
        </p:txBody>
      </p:sp>
      <p:sp>
        <p:nvSpPr>
          <p:cNvPr id="197" name="Google Shape;197;p20"/>
          <p:cNvSpPr txBox="1"/>
          <p:nvPr/>
        </p:nvSpPr>
        <p:spPr>
          <a:xfrm>
            <a:off x="952500" y="4743462"/>
            <a:ext cx="4857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Annotation:</a:t>
            </a:r>
            <a:r>
              <a:rPr b="0" i="0" lang="en-US" sz="1500" u="none" cap="none" strike="noStrike">
                <a:solidFill>
                  <a:srgbClr val="334155"/>
                </a:solidFill>
                <a:latin typeface="Lato"/>
                <a:ea typeface="Lato"/>
                <a:cs typeface="Lato"/>
                <a:sym typeface="Lato"/>
              </a:rPr>
              <a:t> Bedtools intersection with GENCODE map.</a:t>
            </a:r>
            <a:endParaRPr/>
          </a:p>
        </p:txBody>
      </p:sp>
      <p:pic>
        <p:nvPicPr>
          <p:cNvPr descr="image.png" id="198" name="Google Shape;198;p20"/>
          <p:cNvPicPr preferRelativeResize="0"/>
          <p:nvPr/>
        </p:nvPicPr>
        <p:blipFill rotWithShape="1">
          <a:blip r:embed="rId4">
            <a:alphaModFix/>
          </a:blip>
          <a:srcRect b="0" l="0" r="0" t="0"/>
          <a:stretch/>
        </p:blipFill>
        <p:spPr>
          <a:xfrm>
            <a:off x="571500" y="2952750"/>
            <a:ext cx="238125" cy="200025"/>
          </a:xfrm>
          <a:prstGeom prst="rect">
            <a:avLst/>
          </a:prstGeom>
          <a:noFill/>
          <a:ln>
            <a:noFill/>
          </a:ln>
        </p:spPr>
      </p:pic>
      <p:pic>
        <p:nvPicPr>
          <p:cNvPr descr="image.png" id="199" name="Google Shape;199;p20"/>
          <p:cNvPicPr preferRelativeResize="0"/>
          <p:nvPr/>
        </p:nvPicPr>
        <p:blipFill rotWithShape="1">
          <a:blip r:embed="rId5">
            <a:alphaModFix/>
          </a:blip>
          <a:srcRect b="0" l="0" r="0" t="0"/>
          <a:stretch/>
        </p:blipFill>
        <p:spPr>
          <a:xfrm>
            <a:off x="571500" y="4211250"/>
            <a:ext cx="190500" cy="200025"/>
          </a:xfrm>
          <a:prstGeom prst="rect">
            <a:avLst/>
          </a:prstGeom>
          <a:noFill/>
          <a:ln>
            <a:noFill/>
          </a:ln>
        </p:spPr>
      </p:pic>
      <p:pic>
        <p:nvPicPr>
          <p:cNvPr descr="image.png" id="200" name="Google Shape;200;p20"/>
          <p:cNvPicPr preferRelativeResize="0"/>
          <p:nvPr/>
        </p:nvPicPr>
        <p:blipFill rotWithShape="1">
          <a:blip r:embed="rId6">
            <a:alphaModFix/>
          </a:blip>
          <a:srcRect b="0" l="0" r="0" t="0"/>
          <a:stretch/>
        </p:blipFill>
        <p:spPr>
          <a:xfrm>
            <a:off x="571500" y="3757613"/>
            <a:ext cx="190500" cy="200025"/>
          </a:xfrm>
          <a:prstGeom prst="rect">
            <a:avLst/>
          </a:prstGeom>
          <a:noFill/>
          <a:ln>
            <a:noFill/>
          </a:ln>
        </p:spPr>
      </p:pic>
      <p:pic>
        <p:nvPicPr>
          <p:cNvPr descr="image.png" id="201" name="Google Shape;201;p20"/>
          <p:cNvPicPr preferRelativeResize="0"/>
          <p:nvPr/>
        </p:nvPicPr>
        <p:blipFill rotWithShape="1">
          <a:blip r:embed="rId7">
            <a:alphaModFix/>
          </a:blip>
          <a:srcRect b="0" l="0" r="0" t="0"/>
          <a:stretch/>
        </p:blipFill>
        <p:spPr>
          <a:xfrm>
            <a:off x="571500" y="4743450"/>
            <a:ext cx="190500" cy="200025"/>
          </a:xfrm>
          <a:prstGeom prst="rect">
            <a:avLst/>
          </a:prstGeom>
          <a:noFill/>
          <a:ln>
            <a:noFill/>
          </a:ln>
        </p:spPr>
      </p:pic>
      <p:pic>
        <p:nvPicPr>
          <p:cNvPr id="202" name="Google Shape;202;p20"/>
          <p:cNvPicPr preferRelativeResize="0"/>
          <p:nvPr/>
        </p:nvPicPr>
        <p:blipFill rotWithShape="1">
          <a:blip r:embed="rId8">
            <a:alphaModFix/>
          </a:blip>
          <a:srcRect b="1195" l="0" r="0" t="0"/>
          <a:stretch/>
        </p:blipFill>
        <p:spPr>
          <a:xfrm>
            <a:off x="7121825" y="1362075"/>
            <a:ext cx="4069299" cy="54323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6" name="Shape 206"/>
        <p:cNvGrpSpPr/>
        <p:nvPr/>
      </p:nvGrpSpPr>
      <p:grpSpPr>
        <a:xfrm>
          <a:off x="0" y="0"/>
          <a:ext cx="0" cy="0"/>
          <a:chOff x="0" y="0"/>
          <a:chExt cx="0" cy="0"/>
        </a:xfrm>
      </p:grpSpPr>
      <p:pic>
        <p:nvPicPr>
          <p:cNvPr descr="image.png" id="207" name="Google Shape;207;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8" name="Google Shape;208;p21"/>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Illumina 850k Microarray Analysis</a:t>
            </a:r>
            <a:endParaRPr/>
          </a:p>
        </p:txBody>
      </p:sp>
      <p:sp>
        <p:nvSpPr>
          <p:cNvPr id="209" name="Google Shape;209;p21"/>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10" name="Google Shape;210;p21"/>
          <p:cNvPicPr preferRelativeResize="0"/>
          <p:nvPr/>
        </p:nvPicPr>
        <p:blipFill>
          <a:blip r:embed="rId4">
            <a:alphaModFix/>
          </a:blip>
          <a:stretch>
            <a:fillRect/>
          </a:stretch>
        </p:blipFill>
        <p:spPr>
          <a:xfrm>
            <a:off x="496677" y="1362075"/>
            <a:ext cx="4886876" cy="5301675"/>
          </a:xfrm>
          <a:prstGeom prst="rect">
            <a:avLst/>
          </a:prstGeom>
          <a:noFill/>
          <a:ln>
            <a:noFill/>
          </a:ln>
        </p:spPr>
      </p:pic>
      <p:pic>
        <p:nvPicPr>
          <p:cNvPr id="211" name="Google Shape;211;p21"/>
          <p:cNvPicPr preferRelativeResize="0"/>
          <p:nvPr/>
        </p:nvPicPr>
        <p:blipFill>
          <a:blip r:embed="rId5">
            <a:alphaModFix/>
          </a:blip>
          <a:stretch>
            <a:fillRect/>
          </a:stretch>
        </p:blipFill>
        <p:spPr>
          <a:xfrm>
            <a:off x="6668475" y="1285871"/>
            <a:ext cx="4208025" cy="2745725"/>
          </a:xfrm>
          <a:prstGeom prst="rect">
            <a:avLst/>
          </a:prstGeom>
          <a:noFill/>
          <a:ln>
            <a:noFill/>
          </a:ln>
        </p:spPr>
      </p:pic>
      <p:pic>
        <p:nvPicPr>
          <p:cNvPr id="212" name="Google Shape;212;p21"/>
          <p:cNvPicPr preferRelativeResize="0"/>
          <p:nvPr/>
        </p:nvPicPr>
        <p:blipFill>
          <a:blip r:embed="rId6">
            <a:alphaModFix/>
          </a:blip>
          <a:stretch>
            <a:fillRect/>
          </a:stretch>
        </p:blipFill>
        <p:spPr>
          <a:xfrm>
            <a:off x="6210247" y="4126850"/>
            <a:ext cx="5369350" cy="2681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6" name="Shape 216"/>
        <p:cNvGrpSpPr/>
        <p:nvPr/>
      </p:nvGrpSpPr>
      <p:grpSpPr>
        <a:xfrm>
          <a:off x="0" y="0"/>
          <a:ext cx="0" cy="0"/>
          <a:chOff x="0" y="0"/>
          <a:chExt cx="0" cy="0"/>
        </a:xfrm>
      </p:grpSpPr>
      <p:pic>
        <p:nvPicPr>
          <p:cNvPr descr="image.png" id="217" name="Google Shape;21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 name="Google Shape;218;p22"/>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MINUTE Technical Validation</a:t>
            </a:r>
            <a:endParaRPr/>
          </a:p>
        </p:txBody>
      </p:sp>
      <p:sp>
        <p:nvSpPr>
          <p:cNvPr id="219" name="Google Shape;219;p22"/>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2"/>
          <p:cNvSpPr txBox="1"/>
          <p:nvPr/>
        </p:nvSpPr>
        <p:spPr>
          <a:xfrm>
            <a:off x="4686500" y="6033600"/>
            <a:ext cx="20613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02147"/>
                </a:solidFill>
                <a:latin typeface="Poppins"/>
                <a:ea typeface="Poppins"/>
                <a:cs typeface="Poppins"/>
                <a:sym typeface="Poppins"/>
              </a:rPr>
              <a:t>High Reproducibility!</a:t>
            </a:r>
            <a:endParaRPr/>
          </a:p>
        </p:txBody>
      </p:sp>
      <p:sp>
        <p:nvSpPr>
          <p:cNvPr id="221" name="Google Shape;221;p22"/>
          <p:cNvSpPr txBox="1"/>
          <p:nvPr/>
        </p:nvSpPr>
        <p:spPr>
          <a:xfrm>
            <a:off x="237850" y="4213650"/>
            <a:ext cx="33528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PCA:</a:t>
            </a:r>
            <a:r>
              <a:rPr b="0" i="0" lang="en-US" sz="1500" u="none" cap="none" strike="noStrike">
                <a:solidFill>
                  <a:srgbClr val="334155"/>
                </a:solidFill>
                <a:latin typeface="Lato"/>
                <a:ea typeface="Lato"/>
                <a:cs typeface="Lato"/>
                <a:sym typeface="Lato"/>
              </a:rPr>
              <a:t> Clear clustering by capture method (M2 vs M</a:t>
            </a:r>
            <a:r>
              <a:rPr lang="en-US" sz="1500">
                <a:solidFill>
                  <a:srgbClr val="334155"/>
                </a:solidFill>
                <a:latin typeface="Lato"/>
                <a:ea typeface="Lato"/>
                <a:cs typeface="Lato"/>
                <a:sym typeface="Lato"/>
              </a:rPr>
              <a:t>4</a:t>
            </a:r>
            <a:r>
              <a:rPr b="0" i="0" lang="en-US" sz="1500" u="none" cap="none" strike="noStrike">
                <a:solidFill>
                  <a:srgbClr val="334155"/>
                </a:solidFill>
                <a:latin typeface="Lato"/>
                <a:ea typeface="Lato"/>
                <a:cs typeface="Lato"/>
                <a:sym typeface="Lato"/>
              </a:rPr>
              <a:t>).</a:t>
            </a:r>
            <a:endParaRPr/>
          </a:p>
        </p:txBody>
      </p:sp>
      <p:sp>
        <p:nvSpPr>
          <p:cNvPr id="222" name="Google Shape;222;p22"/>
          <p:cNvSpPr txBox="1"/>
          <p:nvPr/>
        </p:nvSpPr>
        <p:spPr>
          <a:xfrm>
            <a:off x="3794000" y="4672725"/>
            <a:ext cx="40431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Correlation:</a:t>
            </a:r>
            <a:r>
              <a:rPr b="0" i="0" lang="en-US" sz="1500" u="none" cap="none" strike="noStrike">
                <a:solidFill>
                  <a:srgbClr val="334155"/>
                </a:solidFill>
                <a:latin typeface="Lato"/>
                <a:ea typeface="Lato"/>
                <a:cs typeface="Lato"/>
                <a:sym typeface="Lato"/>
              </a:rPr>
              <a:t> Spearman coefficients confirmed high technical fidelity between replicates.</a:t>
            </a:r>
            <a:endParaRPr/>
          </a:p>
        </p:txBody>
      </p:sp>
      <p:sp>
        <p:nvSpPr>
          <p:cNvPr id="223" name="Google Shape;223;p22"/>
          <p:cNvSpPr txBox="1"/>
          <p:nvPr/>
        </p:nvSpPr>
        <p:spPr>
          <a:xfrm>
            <a:off x="8258925" y="4291300"/>
            <a:ext cx="3800400" cy="96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Enrichment:</a:t>
            </a:r>
            <a:r>
              <a:rPr b="0" i="0" lang="en-US" sz="1500" u="none" cap="none" strike="noStrike">
                <a:solidFill>
                  <a:srgbClr val="334155"/>
                </a:solidFill>
                <a:latin typeface="Lato"/>
                <a:ea typeface="Lato"/>
                <a:cs typeface="Lato"/>
                <a:sym typeface="Lato"/>
              </a:rPr>
              <a:t> Fingerprint plots showed significant target capture over Input background.</a:t>
            </a:r>
            <a:endParaRPr/>
          </a:p>
        </p:txBody>
      </p:sp>
      <p:pic>
        <p:nvPicPr>
          <p:cNvPr id="224" name="Google Shape;224;p22"/>
          <p:cNvPicPr preferRelativeResize="0"/>
          <p:nvPr/>
        </p:nvPicPr>
        <p:blipFill>
          <a:blip r:embed="rId4">
            <a:alphaModFix/>
          </a:blip>
          <a:stretch>
            <a:fillRect/>
          </a:stretch>
        </p:blipFill>
        <p:spPr>
          <a:xfrm>
            <a:off x="161451" y="1362063"/>
            <a:ext cx="3505601" cy="2680150"/>
          </a:xfrm>
          <a:prstGeom prst="rect">
            <a:avLst/>
          </a:prstGeom>
          <a:noFill/>
          <a:ln>
            <a:noFill/>
          </a:ln>
        </p:spPr>
      </p:pic>
      <p:pic>
        <p:nvPicPr>
          <p:cNvPr id="225" name="Google Shape;225;p22"/>
          <p:cNvPicPr preferRelativeResize="0"/>
          <p:nvPr/>
        </p:nvPicPr>
        <p:blipFill rotWithShape="1">
          <a:blip r:embed="rId5">
            <a:alphaModFix/>
          </a:blip>
          <a:srcRect b="9280" l="0" r="0" t="7037"/>
          <a:stretch/>
        </p:blipFill>
        <p:spPr>
          <a:xfrm>
            <a:off x="3794000" y="1362075"/>
            <a:ext cx="4043221" cy="3258876"/>
          </a:xfrm>
          <a:prstGeom prst="rect">
            <a:avLst/>
          </a:prstGeom>
          <a:noFill/>
          <a:ln>
            <a:noFill/>
          </a:ln>
        </p:spPr>
      </p:pic>
      <p:pic>
        <p:nvPicPr>
          <p:cNvPr id="226" name="Google Shape;226;p22"/>
          <p:cNvPicPr preferRelativeResize="0"/>
          <p:nvPr/>
        </p:nvPicPr>
        <p:blipFill>
          <a:blip r:embed="rId6">
            <a:alphaModFix/>
          </a:blip>
          <a:stretch>
            <a:fillRect/>
          </a:stretch>
        </p:blipFill>
        <p:spPr>
          <a:xfrm>
            <a:off x="7964175" y="1285875"/>
            <a:ext cx="4095049" cy="3005425"/>
          </a:xfrm>
          <a:prstGeom prst="rect">
            <a:avLst/>
          </a:prstGeom>
          <a:noFill/>
          <a:ln>
            <a:noFill/>
          </a:ln>
        </p:spPr>
      </p:pic>
      <p:sp>
        <p:nvSpPr>
          <p:cNvPr id="227" name="Google Shape;227;p22"/>
          <p:cNvSpPr/>
          <p:nvPr/>
        </p:nvSpPr>
        <p:spPr>
          <a:xfrm>
            <a:off x="2472875" y="1528825"/>
            <a:ext cx="736800" cy="530400"/>
          </a:xfrm>
          <a:prstGeom prst="ellipse">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8" name="Google Shape;228;p22"/>
          <p:cNvSpPr txBox="1"/>
          <p:nvPr/>
        </p:nvSpPr>
        <p:spPr>
          <a:xfrm>
            <a:off x="2008775" y="1661450"/>
            <a:ext cx="464100" cy="3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29" name="Google Shape;229;p22"/>
          <p:cNvSpPr/>
          <p:nvPr/>
        </p:nvSpPr>
        <p:spPr>
          <a:xfrm rot="-5398725">
            <a:off x="3059278" y="2555487"/>
            <a:ext cx="809100" cy="618900"/>
          </a:xfrm>
          <a:prstGeom prst="ellipse">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 name="Google Shape;230;p22"/>
          <p:cNvSpPr txBox="1"/>
          <p:nvPr/>
        </p:nvSpPr>
        <p:spPr>
          <a:xfrm>
            <a:off x="1553300" y="1601063"/>
            <a:ext cx="1211700" cy="3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CXXC (M3)</a:t>
            </a:r>
            <a:endParaRPr>
              <a:solidFill>
                <a:schemeClr val="dk1"/>
              </a:solidFill>
              <a:latin typeface="Calibri"/>
              <a:ea typeface="Calibri"/>
              <a:cs typeface="Calibri"/>
              <a:sym typeface="Calibri"/>
            </a:endParaRPr>
          </a:p>
        </p:txBody>
      </p:sp>
      <p:sp>
        <p:nvSpPr>
          <p:cNvPr id="231" name="Google Shape;231;p22"/>
          <p:cNvSpPr txBox="1"/>
          <p:nvPr/>
        </p:nvSpPr>
        <p:spPr>
          <a:xfrm>
            <a:off x="1590250" y="2683413"/>
            <a:ext cx="2000400" cy="3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In-house MBD</a:t>
            </a:r>
            <a:r>
              <a:rPr lang="en-US">
                <a:solidFill>
                  <a:schemeClr val="dk1"/>
                </a:solidFill>
                <a:latin typeface="Calibri"/>
                <a:ea typeface="Calibri"/>
                <a:cs typeface="Calibri"/>
                <a:sym typeface="Calibri"/>
              </a:rPr>
              <a:t> (M2)</a:t>
            </a:r>
            <a:endParaRPr>
              <a:solidFill>
                <a:schemeClr val="dk1"/>
              </a:solidFill>
              <a:latin typeface="Calibri"/>
              <a:ea typeface="Calibri"/>
              <a:cs typeface="Calibri"/>
              <a:sym typeface="Calibri"/>
            </a:endParaRPr>
          </a:p>
        </p:txBody>
      </p:sp>
      <p:sp>
        <p:nvSpPr>
          <p:cNvPr id="232" name="Google Shape;232;p22"/>
          <p:cNvSpPr/>
          <p:nvPr/>
        </p:nvSpPr>
        <p:spPr>
          <a:xfrm>
            <a:off x="3154225" y="3429000"/>
            <a:ext cx="512700" cy="393300"/>
          </a:xfrm>
          <a:prstGeom prst="ellipse">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p22"/>
          <p:cNvSpPr txBox="1"/>
          <p:nvPr/>
        </p:nvSpPr>
        <p:spPr>
          <a:xfrm>
            <a:off x="804200" y="3406350"/>
            <a:ext cx="2709900" cy="3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Input &amp; </a:t>
            </a:r>
            <a:r>
              <a:rPr lang="en-US">
                <a:solidFill>
                  <a:schemeClr val="dk1"/>
                </a:solidFill>
                <a:latin typeface="Calibri"/>
                <a:ea typeface="Calibri"/>
                <a:cs typeface="Calibri"/>
                <a:sym typeface="Calibri"/>
              </a:rPr>
              <a:t>Commercial</a:t>
            </a:r>
            <a:r>
              <a:rPr lang="en-US">
                <a:solidFill>
                  <a:schemeClr val="dk1"/>
                </a:solidFill>
                <a:latin typeface="Calibri"/>
                <a:ea typeface="Calibri"/>
                <a:cs typeface="Calibri"/>
                <a:sym typeface="Calibri"/>
              </a:rPr>
              <a:t> MBD</a:t>
            </a:r>
            <a:r>
              <a:rPr lang="en-US">
                <a:solidFill>
                  <a:schemeClr val="dk1"/>
                </a:solidFill>
                <a:latin typeface="Calibri"/>
                <a:ea typeface="Calibri"/>
                <a:cs typeface="Calibri"/>
                <a:sym typeface="Calibri"/>
              </a:rPr>
              <a:t> (M4)</a:t>
            </a:r>
            <a:endParaRPr>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7" name="Shape 237"/>
        <p:cNvGrpSpPr/>
        <p:nvPr/>
      </p:nvGrpSpPr>
      <p:grpSpPr>
        <a:xfrm>
          <a:off x="0" y="0"/>
          <a:ext cx="0" cy="0"/>
          <a:chOff x="0" y="0"/>
          <a:chExt cx="0" cy="0"/>
        </a:xfrm>
      </p:grpSpPr>
      <p:pic>
        <p:nvPicPr>
          <p:cNvPr descr="image.png" id="238" name="Google Shape;238;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9" name="Google Shape;239;p23"/>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Mapping the </a:t>
            </a:r>
            <a:r>
              <a:rPr b="1" lang="en-US" sz="3150">
                <a:solidFill>
                  <a:srgbClr val="002147"/>
                </a:solidFill>
                <a:latin typeface="Poppins"/>
                <a:ea typeface="Poppins"/>
                <a:cs typeface="Poppins"/>
                <a:sym typeface="Poppins"/>
              </a:rPr>
              <a:t>donors</a:t>
            </a:r>
            <a:endParaRPr/>
          </a:p>
        </p:txBody>
      </p:sp>
      <p:sp>
        <p:nvSpPr>
          <p:cNvPr id="240" name="Google Shape;240;p23"/>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3"/>
          <p:cNvSpPr txBox="1"/>
          <p:nvPr/>
        </p:nvSpPr>
        <p:spPr>
          <a:xfrm>
            <a:off x="571500" y="3009900"/>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Lato"/>
                <a:ea typeface="Lato"/>
                <a:cs typeface="Lato"/>
                <a:sym typeface="Lato"/>
              </a:rPr>
              <a:t>High-resolution mapping revealed characteristic landscapes at Transcription Start Sites (TSS):</a:t>
            </a:r>
            <a:endParaRPr/>
          </a:p>
        </p:txBody>
      </p:sp>
      <p:sp>
        <p:nvSpPr>
          <p:cNvPr id="242" name="Google Shape;242;p23"/>
          <p:cNvSpPr txBox="1"/>
          <p:nvPr/>
        </p:nvSpPr>
        <p:spPr>
          <a:xfrm>
            <a:off x="952500" y="3810000"/>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Methylated (M2):</a:t>
            </a:r>
            <a:r>
              <a:rPr b="0" i="0" lang="en-US" sz="1500" u="none" cap="none" strike="noStrike">
                <a:solidFill>
                  <a:srgbClr val="334155"/>
                </a:solidFill>
                <a:latin typeface="Lato"/>
                <a:ea typeface="Lato"/>
                <a:cs typeface="Lato"/>
                <a:sym typeface="Lato"/>
              </a:rPr>
              <a:t> Distinct "Dip" at TSS, as active genes remain unmethylated for expression.</a:t>
            </a:r>
            <a:endParaRPr/>
          </a:p>
        </p:txBody>
      </p:sp>
      <p:sp>
        <p:nvSpPr>
          <p:cNvPr id="243" name="Google Shape;243;p23"/>
          <p:cNvSpPr txBox="1"/>
          <p:nvPr/>
        </p:nvSpPr>
        <p:spPr>
          <a:xfrm>
            <a:off x="952500" y="4610100"/>
            <a:ext cx="4857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Unmethylated (M3):</a:t>
            </a:r>
            <a:r>
              <a:rPr b="0" i="0" lang="en-US" sz="1500" u="none" cap="none" strike="noStrike">
                <a:solidFill>
                  <a:srgbClr val="334155"/>
                </a:solidFill>
                <a:latin typeface="Lato"/>
                <a:ea typeface="Lato"/>
                <a:cs typeface="Lato"/>
                <a:sym typeface="Lato"/>
              </a:rPr>
              <a:t> Sharp "Peak" at TSS, confirming CXXC affinity for open promoters.</a:t>
            </a:r>
            <a:endParaRPr/>
          </a:p>
        </p:txBody>
      </p:sp>
      <p:pic>
        <p:nvPicPr>
          <p:cNvPr descr="image.png" id="244" name="Google Shape;244;p23"/>
          <p:cNvPicPr preferRelativeResize="0"/>
          <p:nvPr/>
        </p:nvPicPr>
        <p:blipFill rotWithShape="1">
          <a:blip r:embed="rId4">
            <a:alphaModFix/>
          </a:blip>
          <a:srcRect b="0" l="0" r="0" t="0"/>
          <a:stretch/>
        </p:blipFill>
        <p:spPr>
          <a:xfrm>
            <a:off x="571500" y="3852862"/>
            <a:ext cx="142875" cy="200025"/>
          </a:xfrm>
          <a:prstGeom prst="rect">
            <a:avLst/>
          </a:prstGeom>
          <a:noFill/>
          <a:ln>
            <a:noFill/>
          </a:ln>
        </p:spPr>
      </p:pic>
      <p:pic>
        <p:nvPicPr>
          <p:cNvPr descr="image.png" id="245" name="Google Shape;245;p23"/>
          <p:cNvPicPr preferRelativeResize="0"/>
          <p:nvPr/>
        </p:nvPicPr>
        <p:blipFill rotWithShape="1">
          <a:blip r:embed="rId5">
            <a:alphaModFix/>
          </a:blip>
          <a:srcRect b="0" l="0" r="0" t="0"/>
          <a:stretch/>
        </p:blipFill>
        <p:spPr>
          <a:xfrm>
            <a:off x="571500" y="4652962"/>
            <a:ext cx="142875" cy="200025"/>
          </a:xfrm>
          <a:prstGeom prst="rect">
            <a:avLst/>
          </a:prstGeom>
          <a:noFill/>
          <a:ln>
            <a:noFill/>
          </a:ln>
        </p:spPr>
      </p:pic>
      <p:pic>
        <p:nvPicPr>
          <p:cNvPr id="246" name="Google Shape;246;p23"/>
          <p:cNvPicPr preferRelativeResize="0"/>
          <p:nvPr/>
        </p:nvPicPr>
        <p:blipFill>
          <a:blip r:embed="rId6">
            <a:alphaModFix/>
          </a:blip>
          <a:stretch>
            <a:fillRect/>
          </a:stretch>
        </p:blipFill>
        <p:spPr>
          <a:xfrm>
            <a:off x="7226125" y="165725"/>
            <a:ext cx="3956225" cy="6644649"/>
          </a:xfrm>
          <a:prstGeom prst="rect">
            <a:avLst/>
          </a:prstGeom>
          <a:noFill/>
          <a:ln>
            <a:noFill/>
          </a:ln>
        </p:spPr>
      </p:pic>
      <p:cxnSp>
        <p:nvCxnSpPr>
          <p:cNvPr id="247" name="Google Shape;247;p23"/>
          <p:cNvCxnSpPr/>
          <p:nvPr/>
        </p:nvCxnSpPr>
        <p:spPr>
          <a:xfrm flipH="1" rot="10800000">
            <a:off x="5364475" y="2575625"/>
            <a:ext cx="4000500" cy="2200200"/>
          </a:xfrm>
          <a:prstGeom prst="straightConnector1">
            <a:avLst/>
          </a:prstGeom>
          <a:noFill/>
          <a:ln cap="flat" cmpd="sng" w="38100">
            <a:solidFill>
              <a:schemeClr val="dk2"/>
            </a:solidFill>
            <a:prstDash val="solid"/>
            <a:round/>
            <a:headEnd len="med" w="med" type="none"/>
            <a:tailEnd len="med" w="med" type="triangle"/>
          </a:ln>
        </p:spPr>
      </p:cxnSp>
      <p:cxnSp>
        <p:nvCxnSpPr>
          <p:cNvPr id="248" name="Google Shape;248;p23"/>
          <p:cNvCxnSpPr/>
          <p:nvPr/>
        </p:nvCxnSpPr>
        <p:spPr>
          <a:xfrm flipH="1" rot="10800000">
            <a:off x="5516875" y="1556225"/>
            <a:ext cx="3038400" cy="2381400"/>
          </a:xfrm>
          <a:prstGeom prst="straightConnector1">
            <a:avLst/>
          </a:prstGeom>
          <a:noFill/>
          <a:ln cap="flat" cmpd="sng" w="38100">
            <a:solidFill>
              <a:schemeClr val="dk2"/>
            </a:solidFill>
            <a:prstDash val="solid"/>
            <a:round/>
            <a:headEnd len="med" w="med" type="none"/>
            <a:tailEnd len="med" w="med" type="triangle"/>
          </a:ln>
        </p:spPr>
      </p:cxnSp>
      <p:pic>
        <p:nvPicPr>
          <p:cNvPr descr="a fishing net (provided by Getty Images)" id="249" name="Google Shape;249;p23"/>
          <p:cNvPicPr preferRelativeResize="0"/>
          <p:nvPr/>
        </p:nvPicPr>
        <p:blipFill>
          <a:blip r:embed="rId7">
            <a:alphaModFix/>
          </a:blip>
          <a:stretch>
            <a:fillRect/>
          </a:stretch>
        </p:blipFill>
        <p:spPr>
          <a:xfrm>
            <a:off x="5269227" y="1370608"/>
            <a:ext cx="1508357" cy="1324977"/>
          </a:xfrm>
          <a:prstGeom prst="rect">
            <a:avLst/>
          </a:prstGeom>
          <a:noFill/>
          <a:ln>
            <a:noFill/>
          </a:ln>
        </p:spPr>
      </p:pic>
      <p:sp>
        <p:nvSpPr>
          <p:cNvPr id="250" name="Google Shape;250;p23"/>
          <p:cNvSpPr txBox="1"/>
          <p:nvPr/>
        </p:nvSpPr>
        <p:spPr>
          <a:xfrm>
            <a:off x="5841000" y="1573563"/>
            <a:ext cx="10626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rgbClr val="FF0000"/>
                </a:solidFill>
                <a:latin typeface="Calibri"/>
                <a:ea typeface="Calibri"/>
                <a:cs typeface="Calibri"/>
                <a:sym typeface="Calibri"/>
              </a:rPr>
              <a:t>DNA</a:t>
            </a:r>
            <a:endParaRPr sz="2800">
              <a:solidFill>
                <a:srgbClr val="FF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54" name="Shape 254"/>
        <p:cNvGrpSpPr/>
        <p:nvPr/>
      </p:nvGrpSpPr>
      <p:grpSpPr>
        <a:xfrm>
          <a:off x="0" y="0"/>
          <a:ext cx="0" cy="0"/>
          <a:chOff x="0" y="0"/>
          <a:chExt cx="0" cy="0"/>
        </a:xfrm>
      </p:grpSpPr>
      <p:pic>
        <p:nvPicPr>
          <p:cNvPr descr="image.png" id="255" name="Google Shape;255;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6" name="Google Shape;256;p24"/>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002147"/>
                </a:solidFill>
                <a:latin typeface="Poppins"/>
                <a:ea typeface="Poppins"/>
                <a:cs typeface="Poppins"/>
                <a:sym typeface="Poppins"/>
              </a:rPr>
              <a:t>What did MBD enrich?</a:t>
            </a:r>
            <a:endParaRPr/>
          </a:p>
        </p:txBody>
      </p:sp>
      <p:sp>
        <p:nvSpPr>
          <p:cNvPr id="257" name="Google Shape;257;p24"/>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4"/>
          <p:cNvSpPr txBox="1"/>
          <p:nvPr/>
        </p:nvSpPr>
        <p:spPr>
          <a:xfrm>
            <a:off x="7056125" y="3081337"/>
            <a:ext cx="5238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Core Methylated Genes</a:t>
            </a:r>
            <a:endParaRPr/>
          </a:p>
        </p:txBody>
      </p:sp>
      <p:sp>
        <p:nvSpPr>
          <p:cNvPr id="259" name="Google Shape;259;p24"/>
          <p:cNvSpPr txBox="1"/>
          <p:nvPr/>
        </p:nvSpPr>
        <p:spPr>
          <a:xfrm>
            <a:off x="7056125" y="3895150"/>
            <a:ext cx="52389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Lato"/>
                <a:ea typeface="Lato"/>
                <a:cs typeface="Lato"/>
                <a:sym typeface="Lato"/>
              </a:rPr>
              <a:t>In-House MBD (M2) exhibits a higher relative concentration of peaks within the immediate promoter (≤ 1kb).</a:t>
            </a:r>
            <a:endParaRPr/>
          </a:p>
        </p:txBody>
      </p:sp>
      <p:pic>
        <p:nvPicPr>
          <p:cNvPr id="260" name="Google Shape;260;p24"/>
          <p:cNvPicPr preferRelativeResize="0"/>
          <p:nvPr/>
        </p:nvPicPr>
        <p:blipFill>
          <a:blip r:embed="rId4">
            <a:alphaModFix/>
          </a:blip>
          <a:stretch>
            <a:fillRect/>
          </a:stretch>
        </p:blipFill>
        <p:spPr>
          <a:xfrm>
            <a:off x="128600" y="2118350"/>
            <a:ext cx="6927525" cy="41538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64" name="Shape 264"/>
        <p:cNvGrpSpPr/>
        <p:nvPr/>
      </p:nvGrpSpPr>
      <p:grpSpPr>
        <a:xfrm>
          <a:off x="0" y="0"/>
          <a:ext cx="0" cy="0"/>
          <a:chOff x="0" y="0"/>
          <a:chExt cx="0" cy="0"/>
        </a:xfrm>
      </p:grpSpPr>
      <p:pic>
        <p:nvPicPr>
          <p:cNvPr descr="image.png" id="265" name="Google Shape;265;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6" name="Google Shape;266;p25"/>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Cross-Platform Gene Overlap</a:t>
            </a:r>
            <a:endParaRPr/>
          </a:p>
        </p:txBody>
      </p:sp>
      <p:sp>
        <p:nvSpPr>
          <p:cNvPr id="267" name="Google Shape;267;p25"/>
          <p:cNvSpPr/>
          <p:nvPr/>
        </p:nvSpPr>
        <p:spPr>
          <a:xfrm>
            <a:off x="571500" y="1266825"/>
            <a:ext cx="110490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5"/>
          <p:cNvSpPr txBox="1"/>
          <p:nvPr/>
        </p:nvSpPr>
        <p:spPr>
          <a:xfrm>
            <a:off x="5678800" y="3034287"/>
            <a:ext cx="5238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Core Methylated Genes</a:t>
            </a:r>
            <a:endParaRPr/>
          </a:p>
        </p:txBody>
      </p:sp>
      <p:sp>
        <p:nvSpPr>
          <p:cNvPr id="269" name="Google Shape;269;p25"/>
          <p:cNvSpPr txBox="1"/>
          <p:nvPr/>
        </p:nvSpPr>
        <p:spPr>
          <a:xfrm>
            <a:off x="5678800" y="4529575"/>
            <a:ext cx="66162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Key Findings:</a:t>
            </a:r>
            <a:r>
              <a:rPr b="0" i="0" lang="en-US" sz="1500" u="none" cap="none" strike="noStrike">
                <a:solidFill>
                  <a:srgbClr val="334155"/>
                </a:solidFill>
                <a:latin typeface="Lato"/>
                <a:ea typeface="Lato"/>
                <a:cs typeface="Lato"/>
                <a:sym typeface="Lato"/>
              </a:rPr>
              <a:t> </a:t>
            </a:r>
            <a:endParaRPr b="0" i="0" sz="1500" u="none" cap="none" strike="noStrike">
              <a:solidFill>
                <a:srgbClr val="334155"/>
              </a:solidFill>
              <a:latin typeface="Lato"/>
              <a:ea typeface="Lato"/>
              <a:cs typeface="Lato"/>
              <a:sym typeface="Lato"/>
            </a:endParaRPr>
          </a:p>
          <a:p>
            <a:pPr indent="-323850" lvl="0" marL="457200" marR="0" rtl="0" algn="l">
              <a:lnSpc>
                <a:spcPct val="160000"/>
              </a:lnSpc>
              <a:spcBef>
                <a:spcPts val="0"/>
              </a:spcBef>
              <a:spcAft>
                <a:spcPts val="0"/>
              </a:spcAft>
              <a:buClr>
                <a:srgbClr val="334155"/>
              </a:buClr>
              <a:buSzPts val="1500"/>
              <a:buFont typeface="Lato"/>
              <a:buChar char="●"/>
            </a:pPr>
            <a:r>
              <a:rPr b="0" i="0" lang="en-US" sz="1500" u="none" cap="none" strike="noStrike">
                <a:solidFill>
                  <a:srgbClr val="334155"/>
                </a:solidFill>
                <a:latin typeface="Lato"/>
                <a:ea typeface="Lato"/>
                <a:cs typeface="Lato"/>
                <a:sym typeface="Lato"/>
              </a:rPr>
              <a:t>In-house MBD successfully captured 47</a:t>
            </a:r>
            <a:r>
              <a:rPr b="1" i="0" lang="en-US" sz="1500" u="none" cap="none" strike="noStrike">
                <a:solidFill>
                  <a:srgbClr val="334155"/>
                </a:solidFill>
                <a:latin typeface="Lato"/>
                <a:ea typeface="Lato"/>
                <a:cs typeface="Lato"/>
                <a:sym typeface="Lato"/>
              </a:rPr>
              <a:t>%</a:t>
            </a:r>
            <a:r>
              <a:rPr b="0" i="0" lang="en-US" sz="1500" u="none" cap="none" strike="noStrike">
                <a:solidFill>
                  <a:srgbClr val="334155"/>
                </a:solidFill>
                <a:latin typeface="Lato"/>
                <a:ea typeface="Lato"/>
                <a:cs typeface="Lato"/>
                <a:sym typeface="Lato"/>
              </a:rPr>
              <a:t> of the genes identified by commercial </a:t>
            </a:r>
            <a:r>
              <a:rPr lang="en-US" sz="1500">
                <a:solidFill>
                  <a:srgbClr val="334155"/>
                </a:solidFill>
                <a:latin typeface="Lato"/>
                <a:ea typeface="Lato"/>
                <a:cs typeface="Lato"/>
                <a:sym typeface="Lato"/>
              </a:rPr>
              <a:t>MBD, and 36% of the genes identified by Illumina 850k</a:t>
            </a:r>
            <a:r>
              <a:rPr b="0" i="0" lang="en-US" sz="1500" u="none" cap="none" strike="noStrike">
                <a:solidFill>
                  <a:srgbClr val="334155"/>
                </a:solidFill>
                <a:latin typeface="Lato"/>
                <a:ea typeface="Lato"/>
                <a:cs typeface="Lato"/>
                <a:sym typeface="Lato"/>
              </a:rPr>
              <a:t>.</a:t>
            </a:r>
            <a:endParaRPr b="0" i="0" sz="1500" u="none" cap="none" strike="noStrike">
              <a:solidFill>
                <a:srgbClr val="334155"/>
              </a:solidFill>
              <a:latin typeface="Lato"/>
              <a:ea typeface="Lato"/>
              <a:cs typeface="Lato"/>
              <a:sym typeface="Lato"/>
            </a:endParaRPr>
          </a:p>
          <a:p>
            <a:pPr indent="0" lvl="0" marL="457200" marR="0" rtl="0" algn="l">
              <a:lnSpc>
                <a:spcPct val="160000"/>
              </a:lnSpc>
              <a:spcBef>
                <a:spcPts val="0"/>
              </a:spcBef>
              <a:spcAft>
                <a:spcPts val="0"/>
              </a:spcAft>
              <a:buNone/>
            </a:pPr>
            <a:r>
              <a:t/>
            </a:r>
            <a:endParaRPr sz="1500">
              <a:solidFill>
                <a:srgbClr val="334155"/>
              </a:solidFill>
              <a:latin typeface="Lato"/>
              <a:ea typeface="Lato"/>
              <a:cs typeface="Lato"/>
              <a:sym typeface="Lato"/>
            </a:endParaRPr>
          </a:p>
          <a:p>
            <a:pPr indent="-323850" lvl="0" marL="457200" marR="0" rtl="0" algn="l">
              <a:lnSpc>
                <a:spcPct val="160000"/>
              </a:lnSpc>
              <a:spcBef>
                <a:spcPts val="0"/>
              </a:spcBef>
              <a:spcAft>
                <a:spcPts val="0"/>
              </a:spcAft>
              <a:buClr>
                <a:srgbClr val="334155"/>
              </a:buClr>
              <a:buSzPts val="1500"/>
              <a:buFont typeface="Lato"/>
              <a:buChar char="●"/>
            </a:pPr>
            <a:r>
              <a:rPr lang="en-US" sz="1500">
                <a:solidFill>
                  <a:srgbClr val="334155"/>
                </a:solidFill>
                <a:latin typeface="Lato"/>
                <a:ea typeface="Lato"/>
                <a:cs typeface="Lato"/>
                <a:sym typeface="Lato"/>
              </a:rPr>
              <a:t>Commercial MBD captured 62% of genes identified by Illumina 850k.</a:t>
            </a:r>
            <a:endParaRPr sz="1500">
              <a:solidFill>
                <a:srgbClr val="334155"/>
              </a:solidFill>
              <a:latin typeface="Lato"/>
              <a:ea typeface="Lato"/>
              <a:cs typeface="Lato"/>
              <a:sym typeface="Lato"/>
            </a:endParaRPr>
          </a:p>
        </p:txBody>
      </p:sp>
      <p:pic>
        <p:nvPicPr>
          <p:cNvPr id="270" name="Google Shape;270;p25"/>
          <p:cNvPicPr preferRelativeResize="0"/>
          <p:nvPr/>
        </p:nvPicPr>
        <p:blipFill>
          <a:blip r:embed="rId4">
            <a:alphaModFix/>
          </a:blip>
          <a:stretch>
            <a:fillRect/>
          </a:stretch>
        </p:blipFill>
        <p:spPr>
          <a:xfrm>
            <a:off x="495300" y="1598300"/>
            <a:ext cx="5031099" cy="5031099"/>
          </a:xfrm>
          <a:prstGeom prst="rect">
            <a:avLst/>
          </a:prstGeom>
          <a:noFill/>
          <a:ln>
            <a:noFill/>
          </a:ln>
        </p:spPr>
      </p:pic>
      <p:sp>
        <p:nvSpPr>
          <p:cNvPr id="271" name="Google Shape;271;p25"/>
          <p:cNvSpPr txBox="1"/>
          <p:nvPr/>
        </p:nvSpPr>
        <p:spPr>
          <a:xfrm>
            <a:off x="5678800" y="3253075"/>
            <a:ext cx="3210000" cy="12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5600">
                <a:solidFill>
                  <a:schemeClr val="dk1"/>
                </a:solidFill>
                <a:latin typeface="Calibri"/>
                <a:ea typeface="Calibri"/>
                <a:cs typeface="Calibri"/>
                <a:sym typeface="Calibri"/>
              </a:rPr>
              <a:t>6,888</a:t>
            </a:r>
            <a:endParaRPr sz="5600">
              <a:solidFill>
                <a:schemeClr val="dk1"/>
              </a:solidFill>
              <a:latin typeface="Calibri"/>
              <a:ea typeface="Calibri"/>
              <a:cs typeface="Calibri"/>
              <a:sym typeface="Calibri"/>
            </a:endParaRPr>
          </a:p>
        </p:txBody>
      </p:sp>
      <p:graphicFrame>
        <p:nvGraphicFramePr>
          <p:cNvPr id="272" name="Google Shape;272;p25"/>
          <p:cNvGraphicFramePr/>
          <p:nvPr/>
        </p:nvGraphicFramePr>
        <p:xfrm>
          <a:off x="8691825" y="1496550"/>
          <a:ext cx="3000000" cy="3000000"/>
        </p:xfrm>
        <a:graphic>
          <a:graphicData uri="http://schemas.openxmlformats.org/drawingml/2006/table">
            <a:tbl>
              <a:tblPr>
                <a:noFill/>
                <a:tableStyleId>{4CF52A42-CD6A-40EA-994F-25FE9F54D620}</a:tableStyleId>
              </a:tblPr>
              <a:tblGrid>
                <a:gridCol w="2190750"/>
                <a:gridCol w="1076325"/>
              </a:tblGrid>
              <a:tr h="342900">
                <a:tc>
                  <a:txBody>
                    <a:bodyPr/>
                    <a:lstStyle/>
                    <a:p>
                      <a:pPr indent="0" lvl="0" marL="0" rtl="0" algn="l">
                        <a:lnSpc>
                          <a:spcPct val="115000"/>
                        </a:lnSpc>
                        <a:spcBef>
                          <a:spcPts val="0"/>
                        </a:spcBef>
                        <a:spcAft>
                          <a:spcPts val="0"/>
                        </a:spcAft>
                        <a:buNone/>
                      </a:pPr>
                      <a:r>
                        <a:rPr b="1" lang="en-US" sz="1100">
                          <a:solidFill>
                            <a:srgbClr val="1F1F1F"/>
                          </a:solidFill>
                        </a:rPr>
                        <a:t>Category</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Total Count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US" sz="1100">
                          <a:solidFill>
                            <a:srgbClr val="1F1F1F"/>
                          </a:solidFill>
                        </a:rPr>
                        <a:t>In-House MBD</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US" sz="1100">
                          <a:solidFill>
                            <a:srgbClr val="1F1F1F"/>
                          </a:solidFill>
                        </a:rPr>
                        <a:t>13,121</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US" sz="1100">
                          <a:solidFill>
                            <a:srgbClr val="1F1F1F"/>
                          </a:solidFill>
                        </a:rPr>
                        <a:t>Commercial MBD</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US" sz="1100">
                          <a:solidFill>
                            <a:srgbClr val="1F1F1F"/>
                          </a:solidFill>
                        </a:rPr>
                        <a:t>26,044</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US" sz="1100">
                          <a:solidFill>
                            <a:srgbClr val="1F1F1F"/>
                          </a:solidFill>
                        </a:rPr>
                        <a:t>Illumina 850k</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US" sz="1100">
                          <a:solidFill>
                            <a:srgbClr val="1F1F1F"/>
                          </a:solidFill>
                        </a:rPr>
                        <a:t>20,026</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76" name="Shape 276"/>
        <p:cNvGrpSpPr/>
        <p:nvPr/>
      </p:nvGrpSpPr>
      <p:grpSpPr>
        <a:xfrm>
          <a:off x="0" y="0"/>
          <a:ext cx="0" cy="0"/>
          <a:chOff x="0" y="0"/>
          <a:chExt cx="0" cy="0"/>
        </a:xfrm>
      </p:grpSpPr>
      <p:pic>
        <p:nvPicPr>
          <p:cNvPr descr="image.png" id="277" name="Google Shape;277;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8" name="Google Shape;278;p26"/>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Performance Comparison</a:t>
            </a:r>
            <a:endParaRPr/>
          </a:p>
        </p:txBody>
      </p:sp>
      <p:sp>
        <p:nvSpPr>
          <p:cNvPr id="279" name="Google Shape;279;p26"/>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0" name="Google Shape;280;p26"/>
          <p:cNvGraphicFramePr/>
          <p:nvPr/>
        </p:nvGraphicFramePr>
        <p:xfrm>
          <a:off x="571500" y="2576512"/>
          <a:ext cx="3000000" cy="3000000"/>
        </p:xfrm>
        <a:graphic>
          <a:graphicData uri="http://schemas.openxmlformats.org/drawingml/2006/table">
            <a:tbl>
              <a:tblPr bandRow="1" firstRow="1">
                <a:noFill/>
                <a:tableStyleId>{077534B9-47D7-4243-9989-0C66526683FC}</a:tableStyleId>
              </a:tblPr>
              <a:tblGrid>
                <a:gridCol w="2636925"/>
                <a:gridCol w="3688550"/>
                <a:gridCol w="4723500"/>
              </a:tblGrid>
              <a:tr h="598175">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Metric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147"/>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Illumina 850k Array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147"/>
                    </a:solidFill>
                  </a:tcPr>
                </a:tc>
                <a:tc>
                  <a:txBody>
                    <a:bodyPr/>
                    <a:lstStyle/>
                    <a:p>
                      <a:pPr indent="0" lvl="0" marL="0" marR="0" rtl="0" algn="l">
                        <a:spcBef>
                          <a:spcPts val="0"/>
                        </a:spcBef>
                        <a:spcAft>
                          <a:spcPts val="0"/>
                        </a:spcAft>
                        <a:buNone/>
                      </a:pPr>
                      <a:r>
                        <a:rPr b="1" i="0" lang="en-US" sz="1500" u="none" cap="none" strike="noStrike">
                          <a:solidFill>
                            <a:srgbClr val="FFFFFF"/>
                          </a:solidFill>
                          <a:latin typeface="Lato"/>
                          <a:ea typeface="Lato"/>
                          <a:cs typeface="Lato"/>
                          <a:sym typeface="Lato"/>
                        </a:rPr>
                        <a:t>MINUTE-seq (NGS)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147"/>
                    </a:solid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Coverage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850,000 Fixed Probes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Genome-wide / Unbiased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Resolution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Single Nucleotide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Regional (Fragment Size)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Quantification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Absolute Beta Values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Relative Enrichment (R</a:t>
                      </a:r>
                      <a:r>
                        <a:rPr lang="en-US" sz="1500">
                          <a:solidFill>
                            <a:srgbClr val="334155"/>
                          </a:solidFill>
                          <a:latin typeface="Lato"/>
                          <a:ea typeface="Lato"/>
                          <a:cs typeface="Lato"/>
                          <a:sym typeface="Lato"/>
                        </a:rPr>
                        <a:t>eads Per Million</a:t>
                      </a:r>
                      <a:r>
                        <a:rPr b="0" i="0" lang="en-US" sz="1500" u="none" cap="none" strike="noStrike">
                          <a:solidFill>
                            <a:srgbClr val="334155"/>
                          </a:solidFill>
                          <a:latin typeface="Lato"/>
                          <a:ea typeface="Lato"/>
                          <a:cs typeface="Lato"/>
                          <a:sym typeface="Lato"/>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r>
              <a:tr h="598175">
                <a:tc>
                  <a:txBody>
                    <a:bodyPr/>
                    <a:lstStyle/>
                    <a:p>
                      <a:pPr indent="0" lvl="0" marL="0" marR="0" rtl="0" algn="l">
                        <a:spcBef>
                          <a:spcPts val="0"/>
                        </a:spcBef>
                        <a:spcAft>
                          <a:spcPts val="0"/>
                        </a:spcAft>
                        <a:buNone/>
                      </a:pPr>
                      <a:r>
                        <a:rPr b="1" i="0" lang="en-US" sz="1500" u="none" cap="none" strike="noStrike">
                          <a:solidFill>
                            <a:srgbClr val="334155"/>
                          </a:solidFill>
                          <a:latin typeface="Lato"/>
                          <a:ea typeface="Lato"/>
                          <a:cs typeface="Lato"/>
                          <a:sym typeface="Lato"/>
                        </a:rPr>
                        <a:t>Discovery</a:t>
                      </a:r>
                      <a:endParaRPr b="1" sz="1500">
                        <a:solidFill>
                          <a:srgbClr val="334155"/>
                        </a:solidFill>
                        <a:latin typeface="Lato"/>
                        <a:ea typeface="Lato"/>
                        <a:cs typeface="Lato"/>
                        <a:sym typeface="Lat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Limited to Probe Set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Lato"/>
                          <a:ea typeface="Lato"/>
                          <a:cs typeface="Lato"/>
                          <a:sym typeface="Lato"/>
                        </a:rPr>
                        <a:t>High (Novel regions/Repeats)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98175">
                <a:tc>
                  <a:txBody>
                    <a:bodyPr/>
                    <a:lstStyle/>
                    <a:p>
                      <a:pPr indent="0" lvl="0" marL="0" marR="0" rtl="0" algn="l">
                        <a:spcBef>
                          <a:spcPts val="0"/>
                        </a:spcBef>
                        <a:spcAft>
                          <a:spcPts val="0"/>
                        </a:spcAft>
                        <a:buNone/>
                      </a:pPr>
                      <a:r>
                        <a:rPr b="1" lang="en-US" sz="1500">
                          <a:solidFill>
                            <a:srgbClr val="334155"/>
                          </a:solidFill>
                          <a:latin typeface="Lato"/>
                          <a:ea typeface="Lato"/>
                          <a:cs typeface="Lato"/>
                          <a:sym typeface="Lato"/>
                        </a:rPr>
                        <a:t>Switch Detection</a:t>
                      </a:r>
                      <a:endParaRPr b="1" i="0" sz="1500" u="none" cap="none" strike="noStrike">
                        <a:solidFill>
                          <a:srgbClr val="334155"/>
                        </a:solidFill>
                        <a:latin typeface="Lato"/>
                        <a:ea typeface="Lato"/>
                        <a:cs typeface="Lato"/>
                        <a:sym typeface="Lat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500">
                          <a:solidFill>
                            <a:srgbClr val="334155"/>
                          </a:solidFill>
                          <a:latin typeface="Lato"/>
                          <a:ea typeface="Lato"/>
                          <a:cs typeface="Lato"/>
                          <a:sym typeface="Lato"/>
                        </a:rPr>
                        <a:t>Measures % change at fixed locations</a:t>
                      </a:r>
                      <a:endParaRPr b="0" i="0" sz="1500" u="none" cap="none" strike="noStrike">
                        <a:solidFill>
                          <a:srgbClr val="334155"/>
                        </a:solidFill>
                        <a:latin typeface="Lato"/>
                        <a:ea typeface="Lato"/>
                        <a:cs typeface="Lato"/>
                        <a:sym typeface="Lat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500">
                          <a:solidFill>
                            <a:srgbClr val="334155"/>
                          </a:solidFill>
                          <a:latin typeface="Lato"/>
                          <a:ea typeface="Lato"/>
                          <a:cs typeface="Lato"/>
                          <a:sym typeface="Lato"/>
                        </a:rPr>
                        <a:t>Detects “On-to-Off” switches anywhere in the genome</a:t>
                      </a:r>
                      <a:endParaRPr b="0" i="0" sz="1500" u="none" cap="none" strike="noStrike">
                        <a:solidFill>
                          <a:srgbClr val="334155"/>
                        </a:solidFill>
                        <a:latin typeface="Lato"/>
                        <a:ea typeface="Lato"/>
                        <a:cs typeface="Lato"/>
                        <a:sym typeface="Lat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noFill/>
                  </a:tcPr>
                </a:tc>
              </a:tr>
            </a:tbl>
          </a:graphicData>
        </a:graphic>
      </p:graphicFrame>
      <p:sp>
        <p:nvSpPr>
          <p:cNvPr id="281" name="Google Shape;281;p26"/>
          <p:cNvSpPr/>
          <p:nvPr/>
        </p:nvSpPr>
        <p:spPr>
          <a:xfrm>
            <a:off x="571500" y="3752850"/>
            <a:ext cx="26369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6"/>
          <p:cNvSpPr/>
          <p:nvPr/>
        </p:nvSpPr>
        <p:spPr>
          <a:xfrm>
            <a:off x="3208436" y="3752850"/>
            <a:ext cx="36885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6"/>
          <p:cNvSpPr/>
          <p:nvPr/>
        </p:nvSpPr>
        <p:spPr>
          <a:xfrm>
            <a:off x="6896992" y="3752850"/>
            <a:ext cx="47235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6"/>
          <p:cNvSpPr/>
          <p:nvPr/>
        </p:nvSpPr>
        <p:spPr>
          <a:xfrm>
            <a:off x="571500" y="4352925"/>
            <a:ext cx="26369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6"/>
          <p:cNvSpPr/>
          <p:nvPr/>
        </p:nvSpPr>
        <p:spPr>
          <a:xfrm>
            <a:off x="3208436" y="4352925"/>
            <a:ext cx="36885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6"/>
          <p:cNvSpPr/>
          <p:nvPr/>
        </p:nvSpPr>
        <p:spPr>
          <a:xfrm>
            <a:off x="6896992" y="4352925"/>
            <a:ext cx="47235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26"/>
          <p:cNvSpPr/>
          <p:nvPr/>
        </p:nvSpPr>
        <p:spPr>
          <a:xfrm>
            <a:off x="571500" y="4953000"/>
            <a:ext cx="26369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26"/>
          <p:cNvSpPr/>
          <p:nvPr/>
        </p:nvSpPr>
        <p:spPr>
          <a:xfrm>
            <a:off x="3208436" y="4953000"/>
            <a:ext cx="36885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26"/>
          <p:cNvSpPr/>
          <p:nvPr/>
        </p:nvSpPr>
        <p:spPr>
          <a:xfrm>
            <a:off x="6896992" y="4953000"/>
            <a:ext cx="47235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6"/>
          <p:cNvSpPr/>
          <p:nvPr/>
        </p:nvSpPr>
        <p:spPr>
          <a:xfrm>
            <a:off x="571500" y="5553075"/>
            <a:ext cx="263693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6"/>
          <p:cNvSpPr/>
          <p:nvPr/>
        </p:nvSpPr>
        <p:spPr>
          <a:xfrm>
            <a:off x="3208436" y="5553075"/>
            <a:ext cx="36885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6"/>
          <p:cNvSpPr/>
          <p:nvPr/>
        </p:nvSpPr>
        <p:spPr>
          <a:xfrm>
            <a:off x="6896992" y="5553075"/>
            <a:ext cx="47235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image.png" id="297" name="Google Shape;297;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8" name="Google Shape;298;p27"/>
          <p:cNvPicPr preferRelativeResize="0"/>
          <p:nvPr/>
        </p:nvPicPr>
        <p:blipFill rotWithShape="1">
          <a:blip r:embed="rId4">
            <a:alphaModFix amt="58999"/>
          </a:blip>
          <a:srcRect b="0" l="0" r="0" t="0"/>
          <a:stretch/>
        </p:blipFill>
        <p:spPr>
          <a:xfrm>
            <a:off x="571500" y="571500"/>
            <a:ext cx="11049000" cy="5715000"/>
          </a:xfrm>
          <a:prstGeom prst="rect">
            <a:avLst/>
          </a:prstGeom>
          <a:noFill/>
          <a:ln>
            <a:noFill/>
          </a:ln>
          <a:effectLst>
            <a:outerShdw blurRad="57150" rotWithShape="0" algn="bl" dir="5400000" dist="19050">
              <a:srgbClr val="000000">
                <a:alpha val="50000"/>
              </a:srgbClr>
            </a:outerShdw>
          </a:effectLst>
        </p:spPr>
      </p:pic>
      <p:pic>
        <p:nvPicPr>
          <p:cNvPr descr="image.png" id="299" name="Google Shape;299;p27"/>
          <p:cNvPicPr preferRelativeResize="0"/>
          <p:nvPr/>
        </p:nvPicPr>
        <p:blipFill rotWithShape="1">
          <a:blip r:embed="rId5">
            <a:alphaModFix/>
          </a:blip>
          <a:srcRect b="0" l="0" r="0" t="0"/>
          <a:stretch/>
        </p:blipFill>
        <p:spPr>
          <a:xfrm>
            <a:off x="1143000" y="2719387"/>
            <a:ext cx="3111549" cy="2543175"/>
          </a:xfrm>
          <a:prstGeom prst="rect">
            <a:avLst/>
          </a:prstGeom>
          <a:noFill/>
          <a:ln>
            <a:noFill/>
          </a:ln>
        </p:spPr>
      </p:pic>
      <p:pic>
        <p:nvPicPr>
          <p:cNvPr descr="image.png" id="300" name="Google Shape;300;p27"/>
          <p:cNvPicPr preferRelativeResize="0"/>
          <p:nvPr/>
        </p:nvPicPr>
        <p:blipFill rotWithShape="1">
          <a:blip r:embed="rId6">
            <a:alphaModFix/>
          </a:blip>
          <a:srcRect b="0" l="0" r="0" t="0"/>
          <a:stretch/>
        </p:blipFill>
        <p:spPr>
          <a:xfrm>
            <a:off x="4540299" y="2719387"/>
            <a:ext cx="3111549" cy="2543175"/>
          </a:xfrm>
          <a:prstGeom prst="rect">
            <a:avLst/>
          </a:prstGeom>
          <a:noFill/>
          <a:ln>
            <a:noFill/>
          </a:ln>
        </p:spPr>
      </p:pic>
      <p:pic>
        <p:nvPicPr>
          <p:cNvPr descr="image.png" id="301" name="Google Shape;301;p27"/>
          <p:cNvPicPr preferRelativeResize="0"/>
          <p:nvPr/>
        </p:nvPicPr>
        <p:blipFill rotWithShape="1">
          <a:blip r:embed="rId7">
            <a:alphaModFix/>
          </a:blip>
          <a:srcRect b="0" l="0" r="0" t="0"/>
          <a:stretch/>
        </p:blipFill>
        <p:spPr>
          <a:xfrm>
            <a:off x="7937599" y="2719387"/>
            <a:ext cx="3111549" cy="2543175"/>
          </a:xfrm>
          <a:prstGeom prst="rect">
            <a:avLst/>
          </a:prstGeom>
          <a:noFill/>
          <a:ln>
            <a:noFill/>
          </a:ln>
        </p:spPr>
      </p:pic>
      <p:sp>
        <p:nvSpPr>
          <p:cNvPr id="302" name="Google Shape;302;p27"/>
          <p:cNvSpPr txBox="1"/>
          <p:nvPr/>
        </p:nvSpPr>
        <p:spPr>
          <a:xfrm>
            <a:off x="2350531" y="1595437"/>
            <a:ext cx="7490936" cy="742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900" u="none" cap="none" strike="noStrike">
                <a:solidFill>
                  <a:srgbClr val="FFFFFF"/>
                </a:solidFill>
                <a:latin typeface="Poppins"/>
                <a:ea typeface="Poppins"/>
                <a:cs typeface="Poppins"/>
                <a:sym typeface="Poppins"/>
              </a:rPr>
              <a:t>Future Implications &amp; Usage</a:t>
            </a:r>
            <a:endParaRPr/>
          </a:p>
        </p:txBody>
      </p:sp>
      <p:sp>
        <p:nvSpPr>
          <p:cNvPr id="303" name="Google Shape;303;p27"/>
          <p:cNvSpPr txBox="1"/>
          <p:nvPr/>
        </p:nvSpPr>
        <p:spPr>
          <a:xfrm>
            <a:off x="1365248" y="3043237"/>
            <a:ext cx="2667052"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8080"/>
                </a:solidFill>
                <a:latin typeface="Poppins"/>
                <a:ea typeface="Poppins"/>
                <a:cs typeface="Poppins"/>
                <a:sym typeface="Poppins"/>
              </a:rPr>
              <a:t>Liquid Biopsies</a:t>
            </a:r>
            <a:endParaRPr/>
          </a:p>
        </p:txBody>
      </p:sp>
      <p:sp>
        <p:nvSpPr>
          <p:cNvPr id="304" name="Google Shape;304;p27"/>
          <p:cNvSpPr txBox="1"/>
          <p:nvPr/>
        </p:nvSpPr>
        <p:spPr>
          <a:xfrm>
            <a:off x="1428750" y="3567112"/>
            <a:ext cx="2540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FFFFFF"/>
                </a:solidFill>
                <a:latin typeface="Lato"/>
                <a:ea typeface="Lato"/>
                <a:cs typeface="Lato"/>
                <a:sym typeface="Lato"/>
              </a:rPr>
              <a:t>Non-destructive nature allows for the analysis of limited input samples like cfDNA for cancer screening.</a:t>
            </a:r>
            <a:endParaRPr/>
          </a:p>
        </p:txBody>
      </p:sp>
      <p:sp>
        <p:nvSpPr>
          <p:cNvPr id="305" name="Google Shape;305;p27"/>
          <p:cNvSpPr txBox="1"/>
          <p:nvPr/>
        </p:nvSpPr>
        <p:spPr>
          <a:xfrm>
            <a:off x="4762548" y="3043237"/>
            <a:ext cx="2667052"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8080"/>
                </a:solidFill>
                <a:latin typeface="Poppins"/>
                <a:ea typeface="Poppins"/>
                <a:cs typeface="Poppins"/>
                <a:sym typeface="Poppins"/>
              </a:rPr>
              <a:t>Scalability</a:t>
            </a:r>
            <a:endParaRPr/>
          </a:p>
        </p:txBody>
      </p:sp>
      <p:sp>
        <p:nvSpPr>
          <p:cNvPr id="306" name="Google Shape;306;p27"/>
          <p:cNvSpPr txBox="1"/>
          <p:nvPr/>
        </p:nvSpPr>
        <p:spPr>
          <a:xfrm>
            <a:off x="4826049" y="3567112"/>
            <a:ext cx="2540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FFFFFF"/>
                </a:solidFill>
                <a:latin typeface="Lato"/>
                <a:ea typeface="Lato"/>
                <a:cs typeface="Lato"/>
                <a:sym typeface="Lato"/>
              </a:rPr>
              <a:t>Cost-effective multiplexing enables large-scale longitudinal clinical studies and cohort profiling.</a:t>
            </a:r>
            <a:endParaRPr/>
          </a:p>
        </p:txBody>
      </p:sp>
      <p:sp>
        <p:nvSpPr>
          <p:cNvPr id="307" name="Google Shape;307;p27"/>
          <p:cNvSpPr txBox="1"/>
          <p:nvPr/>
        </p:nvSpPr>
        <p:spPr>
          <a:xfrm>
            <a:off x="8159847" y="3043237"/>
            <a:ext cx="2667052"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8080"/>
                </a:solidFill>
                <a:latin typeface="Poppins"/>
                <a:ea typeface="Poppins"/>
                <a:cs typeface="Poppins"/>
                <a:sym typeface="Poppins"/>
              </a:rPr>
              <a:t>Marker Discovery</a:t>
            </a:r>
            <a:endParaRPr/>
          </a:p>
        </p:txBody>
      </p:sp>
      <p:sp>
        <p:nvSpPr>
          <p:cNvPr id="308" name="Google Shape;308;p27"/>
          <p:cNvSpPr txBox="1"/>
          <p:nvPr/>
        </p:nvSpPr>
        <p:spPr>
          <a:xfrm>
            <a:off x="8223349" y="3567112"/>
            <a:ext cx="2540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FFFFFF"/>
                </a:solidFill>
                <a:latin typeface="Lato"/>
                <a:ea typeface="Lato"/>
                <a:cs typeface="Lato"/>
                <a:sym typeface="Lato"/>
              </a:rPr>
              <a:t>Unbiased genome-wide view captures silencing events in intergenic regions ignored by arrays.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12" name="Shape 312"/>
        <p:cNvGrpSpPr/>
        <p:nvPr/>
      </p:nvGrpSpPr>
      <p:grpSpPr>
        <a:xfrm>
          <a:off x="0" y="0"/>
          <a:ext cx="0" cy="0"/>
          <a:chOff x="0" y="0"/>
          <a:chExt cx="0" cy="0"/>
        </a:xfrm>
      </p:grpSpPr>
      <p:pic>
        <p:nvPicPr>
          <p:cNvPr descr="image.png" id="313" name="Google Shape;313;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4" name="Google Shape;314;p28"/>
          <p:cNvSpPr txBox="1"/>
          <p:nvPr/>
        </p:nvSpPr>
        <p:spPr>
          <a:xfrm>
            <a:off x="571500" y="571500"/>
            <a:ext cx="116014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2147"/>
                </a:solidFill>
                <a:latin typeface="Poppins"/>
                <a:ea typeface="Poppins"/>
                <a:cs typeface="Poppins"/>
                <a:sym typeface="Poppins"/>
              </a:rPr>
              <a:t>Summary &amp; Conclusion</a:t>
            </a:r>
            <a:endParaRPr/>
          </a:p>
        </p:txBody>
      </p:sp>
      <p:sp>
        <p:nvSpPr>
          <p:cNvPr id="315" name="Google Shape;315;p28"/>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8"/>
          <p:cNvSpPr txBox="1"/>
          <p:nvPr/>
        </p:nvSpPr>
        <p:spPr>
          <a:xfrm>
            <a:off x="952500" y="1757362"/>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Validation:</a:t>
            </a:r>
            <a:r>
              <a:rPr b="0" i="0" lang="en-US" sz="1500" u="none" cap="none" strike="noStrike">
                <a:solidFill>
                  <a:srgbClr val="334155"/>
                </a:solidFill>
                <a:latin typeface="Lato"/>
                <a:ea typeface="Lato"/>
                <a:cs typeface="Lato"/>
                <a:sym typeface="Lato"/>
              </a:rPr>
              <a:t> Successfully re-engineered the MINUTE-ChIP architecture for high-throughput DNA methylation analysis.</a:t>
            </a:r>
            <a:endParaRPr/>
          </a:p>
        </p:txBody>
      </p:sp>
      <p:sp>
        <p:nvSpPr>
          <p:cNvPr id="317" name="Google Shape;317;p28"/>
          <p:cNvSpPr txBox="1"/>
          <p:nvPr/>
        </p:nvSpPr>
        <p:spPr>
          <a:xfrm>
            <a:off x="952500" y="2157412"/>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Consistency:</a:t>
            </a:r>
            <a:r>
              <a:rPr b="0" i="0" lang="en-US" sz="1500" u="none" cap="none" strike="noStrike">
                <a:solidFill>
                  <a:srgbClr val="334155"/>
                </a:solidFill>
                <a:latin typeface="Lato"/>
                <a:ea typeface="Lato"/>
                <a:cs typeface="Lato"/>
                <a:sym typeface="Lato"/>
              </a:rPr>
              <a:t> High </a:t>
            </a:r>
            <a:r>
              <a:rPr lang="en-US" sz="1500">
                <a:solidFill>
                  <a:srgbClr val="334155"/>
                </a:solidFill>
                <a:latin typeface="Lato"/>
                <a:ea typeface="Lato"/>
                <a:cs typeface="Lato"/>
                <a:sym typeface="Lato"/>
              </a:rPr>
              <a:t>overlap </a:t>
            </a:r>
            <a:r>
              <a:rPr b="0" i="0" lang="en-US" sz="1500" u="none" cap="none" strike="noStrike">
                <a:solidFill>
                  <a:srgbClr val="334155"/>
                </a:solidFill>
                <a:latin typeface="Lato"/>
                <a:ea typeface="Lato"/>
                <a:cs typeface="Lato"/>
                <a:sym typeface="Lato"/>
              </a:rPr>
              <a:t>with Illumina 850k</a:t>
            </a:r>
            <a:r>
              <a:rPr lang="en-US" sz="1500">
                <a:solidFill>
                  <a:srgbClr val="334155"/>
                </a:solidFill>
                <a:latin typeface="Lato"/>
                <a:ea typeface="Lato"/>
                <a:cs typeface="Lato"/>
                <a:sym typeface="Lato"/>
              </a:rPr>
              <a:t>, given that we capture a lot of off target signal</a:t>
            </a:r>
            <a:r>
              <a:rPr b="0" i="0" lang="en-US" sz="1500" u="none" cap="none" strike="noStrike">
                <a:solidFill>
                  <a:srgbClr val="334155"/>
                </a:solidFill>
                <a:latin typeface="Lato"/>
                <a:ea typeface="Lato"/>
                <a:cs typeface="Lato"/>
                <a:sym typeface="Lato"/>
              </a:rPr>
              <a:t>.</a:t>
            </a:r>
            <a:endParaRPr/>
          </a:p>
        </p:txBody>
      </p:sp>
      <p:sp>
        <p:nvSpPr>
          <p:cNvPr id="318" name="Google Shape;318;p28"/>
          <p:cNvSpPr txBox="1"/>
          <p:nvPr/>
        </p:nvSpPr>
        <p:spPr>
          <a:xfrm>
            <a:off x="952500" y="2605087"/>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Specificity:</a:t>
            </a:r>
            <a:r>
              <a:rPr b="0" i="0" lang="en-US" sz="1500" u="none" cap="none" strike="noStrike">
                <a:solidFill>
                  <a:srgbClr val="334155"/>
                </a:solidFill>
                <a:latin typeface="Lato"/>
                <a:ea typeface="Lato"/>
                <a:cs typeface="Lato"/>
                <a:sym typeface="Lato"/>
              </a:rPr>
              <a:t> In-house MBD provides superior specificity for </a:t>
            </a:r>
            <a:r>
              <a:rPr lang="en-US" sz="1500">
                <a:solidFill>
                  <a:srgbClr val="334155"/>
                </a:solidFill>
                <a:latin typeface="Lato"/>
                <a:ea typeface="Lato"/>
                <a:cs typeface="Lato"/>
                <a:sym typeface="Lato"/>
              </a:rPr>
              <a:t>small</a:t>
            </a:r>
            <a:r>
              <a:rPr b="0" i="0" lang="en-US" sz="1500" u="none" cap="none" strike="noStrike">
                <a:solidFill>
                  <a:srgbClr val="334155"/>
                </a:solidFill>
                <a:latin typeface="Lato"/>
                <a:ea typeface="Lato"/>
                <a:cs typeface="Lato"/>
                <a:sym typeface="Lato"/>
              </a:rPr>
              <a:t> promoter regions (≤ 1kb), less </a:t>
            </a:r>
            <a:r>
              <a:rPr lang="en-US" sz="1500">
                <a:solidFill>
                  <a:srgbClr val="334155"/>
                </a:solidFill>
                <a:latin typeface="Lato"/>
                <a:ea typeface="Lato"/>
                <a:cs typeface="Lato"/>
                <a:sym typeface="Lato"/>
              </a:rPr>
              <a:t>signal</a:t>
            </a:r>
            <a:r>
              <a:rPr lang="en-US" sz="1500">
                <a:solidFill>
                  <a:srgbClr val="334155"/>
                </a:solidFill>
                <a:latin typeface="Lato"/>
                <a:ea typeface="Lato"/>
                <a:cs typeface="Lato"/>
                <a:sym typeface="Lato"/>
              </a:rPr>
              <a:t>-to-noise ratio</a:t>
            </a:r>
            <a:r>
              <a:rPr b="0" i="0" lang="en-US" sz="1500" u="none" cap="none" strike="noStrike">
                <a:solidFill>
                  <a:srgbClr val="334155"/>
                </a:solidFill>
                <a:latin typeface="Lato"/>
                <a:ea typeface="Lato"/>
                <a:cs typeface="Lato"/>
                <a:sym typeface="Lato"/>
              </a:rPr>
              <a:t>.</a:t>
            </a:r>
            <a:endParaRPr/>
          </a:p>
        </p:txBody>
      </p:sp>
      <p:sp>
        <p:nvSpPr>
          <p:cNvPr id="319" name="Google Shape;319;p28"/>
          <p:cNvSpPr txBox="1"/>
          <p:nvPr/>
        </p:nvSpPr>
        <p:spPr>
          <a:xfrm>
            <a:off x="952500" y="3052762"/>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Impact:</a:t>
            </a:r>
            <a:r>
              <a:rPr b="0" i="0" lang="en-US" sz="1500" u="none" cap="none" strike="noStrike">
                <a:solidFill>
                  <a:srgbClr val="334155"/>
                </a:solidFill>
                <a:latin typeface="Lato"/>
                <a:ea typeface="Lato"/>
                <a:cs typeface="Lato"/>
                <a:sym typeface="Lato"/>
              </a:rPr>
              <a:t> Provides a scalable, cost-effective alternative for clinical epigenetics and precision medicine.</a:t>
            </a:r>
            <a:endParaRPr/>
          </a:p>
        </p:txBody>
      </p:sp>
      <p:pic>
        <p:nvPicPr>
          <p:cNvPr descr="image.png" id="320" name="Google Shape;320;p28"/>
          <p:cNvPicPr preferRelativeResize="0"/>
          <p:nvPr/>
        </p:nvPicPr>
        <p:blipFill rotWithShape="1">
          <a:blip r:embed="rId4">
            <a:alphaModFix/>
          </a:blip>
          <a:srcRect b="0" l="0" r="0" t="0"/>
          <a:stretch/>
        </p:blipFill>
        <p:spPr>
          <a:xfrm>
            <a:off x="571500" y="1772838"/>
            <a:ext cx="190500" cy="200025"/>
          </a:xfrm>
          <a:prstGeom prst="rect">
            <a:avLst/>
          </a:prstGeom>
          <a:noFill/>
          <a:ln>
            <a:noFill/>
          </a:ln>
        </p:spPr>
      </p:pic>
      <p:pic>
        <p:nvPicPr>
          <p:cNvPr descr="image.png" id="321" name="Google Shape;321;p28"/>
          <p:cNvPicPr preferRelativeResize="0"/>
          <p:nvPr/>
        </p:nvPicPr>
        <p:blipFill rotWithShape="1">
          <a:blip r:embed="rId4">
            <a:alphaModFix/>
          </a:blip>
          <a:srcRect b="0" l="0" r="0" t="0"/>
          <a:stretch/>
        </p:blipFill>
        <p:spPr>
          <a:xfrm>
            <a:off x="571500" y="2172888"/>
            <a:ext cx="190500" cy="200025"/>
          </a:xfrm>
          <a:prstGeom prst="rect">
            <a:avLst/>
          </a:prstGeom>
          <a:noFill/>
          <a:ln>
            <a:noFill/>
          </a:ln>
        </p:spPr>
      </p:pic>
      <p:pic>
        <p:nvPicPr>
          <p:cNvPr descr="image.png" id="322" name="Google Shape;322;p28"/>
          <p:cNvPicPr preferRelativeResize="0"/>
          <p:nvPr/>
        </p:nvPicPr>
        <p:blipFill rotWithShape="1">
          <a:blip r:embed="rId4">
            <a:alphaModFix/>
          </a:blip>
          <a:srcRect b="0" l="0" r="0" t="0"/>
          <a:stretch/>
        </p:blipFill>
        <p:spPr>
          <a:xfrm>
            <a:off x="571500" y="2620563"/>
            <a:ext cx="190500" cy="200025"/>
          </a:xfrm>
          <a:prstGeom prst="rect">
            <a:avLst/>
          </a:prstGeom>
          <a:noFill/>
          <a:ln>
            <a:noFill/>
          </a:ln>
        </p:spPr>
      </p:pic>
      <p:pic>
        <p:nvPicPr>
          <p:cNvPr descr="image.png" id="323" name="Google Shape;323;p28"/>
          <p:cNvPicPr preferRelativeResize="0"/>
          <p:nvPr/>
        </p:nvPicPr>
        <p:blipFill rotWithShape="1">
          <a:blip r:embed="rId4">
            <a:alphaModFix/>
          </a:blip>
          <a:srcRect b="0" l="0" r="0" t="0"/>
          <a:stretch/>
        </p:blipFill>
        <p:spPr>
          <a:xfrm>
            <a:off x="571500" y="3068250"/>
            <a:ext cx="190500" cy="200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Beautify this slide" id="328" name="Google Shape;328;p29"/>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002147"/>
                </a:solidFill>
                <a:latin typeface="Poppins"/>
                <a:ea typeface="Poppins"/>
                <a:cs typeface="Poppins"/>
                <a:sym typeface="Poppins"/>
              </a:rPr>
              <a:t>Acknowledgements</a:t>
            </a:r>
            <a:r>
              <a:rPr b="1" lang="en-US" sz="3150">
                <a:solidFill>
                  <a:srgbClr val="002147"/>
                </a:solidFill>
                <a:latin typeface="Poppins"/>
                <a:ea typeface="Poppins"/>
                <a:cs typeface="Poppins"/>
                <a:sym typeface="Poppins"/>
              </a:rPr>
              <a:t> </a:t>
            </a:r>
            <a:endParaRPr/>
          </a:p>
        </p:txBody>
      </p:sp>
      <p:sp>
        <p:nvSpPr>
          <p:cNvPr id="334" name="Google Shape;334;p30"/>
          <p:cNvSpPr txBox="1"/>
          <p:nvPr/>
        </p:nvSpPr>
        <p:spPr>
          <a:xfrm>
            <a:off x="571500" y="1706487"/>
            <a:ext cx="10668000" cy="2447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Lato"/>
                <a:ea typeface="Lato"/>
                <a:cs typeface="Lato"/>
                <a:sym typeface="Lato"/>
              </a:rPr>
              <a:t>Shumaila </a:t>
            </a:r>
            <a:r>
              <a:rPr lang="en-US" sz="1500">
                <a:solidFill>
                  <a:srgbClr val="334155"/>
                </a:solidFill>
                <a:latin typeface="Lato"/>
                <a:ea typeface="Lato"/>
                <a:cs typeface="Lato"/>
                <a:sym typeface="Lato"/>
              </a:rPr>
              <a:t>- for knowing how to solve any problem</a:t>
            </a:r>
            <a:endParaRPr sz="150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t/>
            </a:r>
            <a:endParaRPr sz="150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rPr b="1" lang="en-US" sz="1500">
                <a:solidFill>
                  <a:srgbClr val="334155"/>
                </a:solidFill>
                <a:latin typeface="Lato"/>
                <a:ea typeface="Lato"/>
                <a:cs typeface="Lato"/>
                <a:sym typeface="Lato"/>
              </a:rPr>
              <a:t>Zoe</a:t>
            </a:r>
            <a:r>
              <a:rPr lang="en-US" sz="1500">
                <a:solidFill>
                  <a:srgbClr val="334155"/>
                </a:solidFill>
                <a:latin typeface="Lato"/>
                <a:ea typeface="Lato"/>
                <a:cs typeface="Lato"/>
                <a:sym typeface="Lato"/>
              </a:rPr>
              <a:t> - for the resilience and commitment </a:t>
            </a:r>
            <a:endParaRPr sz="150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t/>
            </a:r>
            <a:endParaRPr sz="150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rPr b="1" lang="en-US" sz="1500">
                <a:solidFill>
                  <a:srgbClr val="334155"/>
                </a:solidFill>
                <a:latin typeface="Lato"/>
                <a:ea typeface="Lato"/>
                <a:cs typeface="Lato"/>
                <a:sym typeface="Lato"/>
              </a:rPr>
              <a:t>Maria</a:t>
            </a:r>
            <a:r>
              <a:rPr lang="en-US" sz="1500">
                <a:solidFill>
                  <a:srgbClr val="334155"/>
                </a:solidFill>
                <a:latin typeface="Lato"/>
                <a:ea typeface="Lato"/>
                <a:cs typeface="Lato"/>
                <a:sym typeface="Lato"/>
              </a:rPr>
              <a:t> - for involving us all in the project </a:t>
            </a:r>
            <a:endParaRPr sz="150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t/>
            </a:r>
            <a:endParaRPr sz="150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rPr b="1" lang="en-US" sz="1500">
                <a:solidFill>
                  <a:srgbClr val="334155"/>
                </a:solidFill>
                <a:latin typeface="Lato"/>
                <a:ea typeface="Lato"/>
                <a:cs typeface="Lato"/>
                <a:sym typeface="Lato"/>
              </a:rPr>
              <a:t>Epigenica team</a:t>
            </a:r>
            <a:r>
              <a:rPr lang="en-US" sz="1500">
                <a:solidFill>
                  <a:srgbClr val="334155"/>
                </a:solidFill>
                <a:latin typeface="Lato"/>
                <a:ea typeface="Lato"/>
                <a:cs typeface="Lato"/>
                <a:sym typeface="Lato"/>
              </a:rPr>
              <a:t> - Qian Li and Sara Hosseini who supported the experimental design and helped with </a:t>
            </a:r>
            <a:r>
              <a:rPr lang="en-US" sz="1500">
                <a:solidFill>
                  <a:srgbClr val="334155"/>
                </a:solidFill>
                <a:latin typeface="Lato"/>
                <a:ea typeface="Lato"/>
                <a:cs typeface="Lato"/>
                <a:sym typeface="Lato"/>
              </a:rPr>
              <a:t>troubleshooting</a:t>
            </a:r>
            <a:r>
              <a:rPr lang="en-US" sz="1500">
                <a:solidFill>
                  <a:srgbClr val="334155"/>
                </a:solidFill>
                <a:latin typeface="Lato"/>
                <a:ea typeface="Lato"/>
                <a:cs typeface="Lato"/>
                <a:sym typeface="Lato"/>
              </a:rPr>
              <a:t> </a:t>
            </a:r>
            <a:endParaRPr sz="1500">
              <a:solidFill>
                <a:srgbClr val="334155"/>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38" name="Shape 338"/>
        <p:cNvGrpSpPr/>
        <p:nvPr/>
      </p:nvGrpSpPr>
      <p:grpSpPr>
        <a:xfrm>
          <a:off x="0" y="0"/>
          <a:ext cx="0" cy="0"/>
          <a:chOff x="0" y="0"/>
          <a:chExt cx="0" cy="0"/>
        </a:xfrm>
      </p:grpSpPr>
      <p:pic>
        <p:nvPicPr>
          <p:cNvPr descr="image.png" id="339" name="Google Shape;339;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0" name="Google Shape;340;p31"/>
          <p:cNvSpPr txBox="1"/>
          <p:nvPr/>
        </p:nvSpPr>
        <p:spPr>
          <a:xfrm>
            <a:off x="3760708" y="996404"/>
            <a:ext cx="4670583"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002147"/>
                </a:solidFill>
                <a:latin typeface="Poppins"/>
                <a:ea typeface="Poppins"/>
                <a:cs typeface="Poppins"/>
                <a:sym typeface="Poppins"/>
              </a:rPr>
              <a:t>Thank You!</a:t>
            </a:r>
            <a:endParaRPr/>
          </a:p>
        </p:txBody>
      </p:sp>
      <p:sp>
        <p:nvSpPr>
          <p:cNvPr id="341" name="Google Shape;341;p31"/>
          <p:cNvSpPr txBox="1"/>
          <p:nvPr/>
        </p:nvSpPr>
        <p:spPr>
          <a:xfrm>
            <a:off x="4251443" y="3638313"/>
            <a:ext cx="3689100" cy="2925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900" u="none" cap="none" strike="noStrike">
                <a:solidFill>
                  <a:srgbClr val="475569"/>
                </a:solidFill>
                <a:latin typeface="Lato"/>
                <a:ea typeface="Lato"/>
                <a:cs typeface="Lato"/>
                <a:sym typeface="Lato"/>
              </a:rPr>
              <a:t>Questions &amp; Discussion</a:t>
            </a:r>
            <a:endParaRPr sz="1500"/>
          </a:p>
        </p:txBody>
      </p:sp>
      <p:sp>
        <p:nvSpPr>
          <p:cNvPr id="342" name="Google Shape;342;p31"/>
          <p:cNvSpPr/>
          <p:nvPr/>
        </p:nvSpPr>
        <p:spPr>
          <a:xfrm>
            <a:off x="5619750" y="5414425"/>
            <a:ext cx="952500" cy="381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31"/>
          <p:cNvSpPr txBox="1"/>
          <p:nvPr/>
        </p:nvSpPr>
        <p:spPr>
          <a:xfrm>
            <a:off x="4148125" y="5948725"/>
            <a:ext cx="38958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334155"/>
                </a:solidFill>
                <a:latin typeface="Lato"/>
                <a:ea typeface="Lato"/>
                <a:cs typeface="Lato"/>
                <a:sym typeface="Lato"/>
              </a:rPr>
              <a:t>Contact:</a:t>
            </a:r>
            <a:r>
              <a:rPr b="0" i="0" lang="en-US" sz="1500" u="none" cap="none" strike="noStrike">
                <a:solidFill>
                  <a:srgbClr val="334155"/>
                </a:solidFill>
                <a:latin typeface="Lato"/>
                <a:ea typeface="Lato"/>
                <a:cs typeface="Lato"/>
                <a:sym typeface="Lato"/>
              </a:rPr>
              <a:t> klaudia.orfin.8677@student.uu.se</a:t>
            </a:r>
            <a:endParaRPr/>
          </a:p>
        </p:txBody>
      </p:sp>
      <p:sp>
        <p:nvSpPr>
          <p:cNvPr id="344" name="Google Shape;344;p31"/>
          <p:cNvSpPr txBox="1"/>
          <p:nvPr/>
        </p:nvSpPr>
        <p:spPr>
          <a:xfrm>
            <a:off x="4251480" y="2471800"/>
            <a:ext cx="36891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lang="en-US" sz="1800">
                <a:solidFill>
                  <a:srgbClr val="475569"/>
                </a:solidFill>
                <a:latin typeface="Lato"/>
                <a:ea typeface="Lato"/>
                <a:cs typeface="Lato"/>
                <a:sym typeface="Lato"/>
              </a:rPr>
              <a:t>I would love to hear your feedback!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48" name="Shape 348"/>
        <p:cNvGrpSpPr/>
        <p:nvPr/>
      </p:nvGrpSpPr>
      <p:grpSpPr>
        <a:xfrm>
          <a:off x="0" y="0"/>
          <a:ext cx="0" cy="0"/>
          <a:chOff x="0" y="0"/>
          <a:chExt cx="0" cy="0"/>
        </a:xfrm>
      </p:grpSpPr>
      <p:pic>
        <p:nvPicPr>
          <p:cNvPr descr="image.png" id="349" name="Google Shape;349;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0" name="Google Shape;350;p32"/>
          <p:cNvSpPr txBox="1"/>
          <p:nvPr/>
        </p:nvSpPr>
        <p:spPr>
          <a:xfrm>
            <a:off x="571500" y="571500"/>
            <a:ext cx="116016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002147"/>
                </a:solidFill>
                <a:latin typeface="Poppins"/>
                <a:ea typeface="Poppins"/>
                <a:cs typeface="Poppins"/>
                <a:sym typeface="Poppins"/>
              </a:rPr>
              <a:t>References</a:t>
            </a:r>
            <a:endParaRPr/>
          </a:p>
        </p:txBody>
      </p:sp>
      <p:sp>
        <p:nvSpPr>
          <p:cNvPr id="351" name="Google Shape;351;p32"/>
          <p:cNvSpPr/>
          <p:nvPr/>
        </p:nvSpPr>
        <p:spPr>
          <a:xfrm>
            <a:off x="571500" y="126682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32"/>
          <p:cNvSpPr/>
          <p:nvPr/>
        </p:nvSpPr>
        <p:spPr>
          <a:xfrm>
            <a:off x="571500" y="1666875"/>
            <a:ext cx="11049000" cy="78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32"/>
          <p:cNvSpPr/>
          <p:nvPr/>
        </p:nvSpPr>
        <p:spPr>
          <a:xfrm>
            <a:off x="571500" y="2451645"/>
            <a:ext cx="11049000" cy="78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4" name="Google Shape;354;p32"/>
          <p:cNvSpPr/>
          <p:nvPr/>
        </p:nvSpPr>
        <p:spPr>
          <a:xfrm>
            <a:off x="571500" y="3236416"/>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32"/>
          <p:cNvSpPr/>
          <p:nvPr/>
        </p:nvSpPr>
        <p:spPr>
          <a:xfrm>
            <a:off x="571500" y="244212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32"/>
          <p:cNvSpPr/>
          <p:nvPr/>
        </p:nvSpPr>
        <p:spPr>
          <a:xfrm>
            <a:off x="571500" y="244212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32"/>
          <p:cNvSpPr/>
          <p:nvPr/>
        </p:nvSpPr>
        <p:spPr>
          <a:xfrm>
            <a:off x="571500" y="3226891"/>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32"/>
          <p:cNvSpPr/>
          <p:nvPr/>
        </p:nvSpPr>
        <p:spPr>
          <a:xfrm>
            <a:off x="571500" y="3226891"/>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32"/>
          <p:cNvSpPr/>
          <p:nvPr/>
        </p:nvSpPr>
        <p:spPr>
          <a:xfrm>
            <a:off x="571500" y="401166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32"/>
          <p:cNvSpPr/>
          <p:nvPr/>
        </p:nvSpPr>
        <p:spPr>
          <a:xfrm>
            <a:off x="571500" y="401166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32"/>
          <p:cNvSpPr/>
          <p:nvPr/>
        </p:nvSpPr>
        <p:spPr>
          <a:xfrm>
            <a:off x="571500" y="479643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32"/>
          <p:cNvSpPr/>
          <p:nvPr/>
        </p:nvSpPr>
        <p:spPr>
          <a:xfrm>
            <a:off x="571500" y="479643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32"/>
          <p:cNvSpPr/>
          <p:nvPr/>
        </p:nvSpPr>
        <p:spPr>
          <a:xfrm>
            <a:off x="571500" y="5581203"/>
            <a:ext cx="11049000" cy="9600"/>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32"/>
          <p:cNvSpPr txBox="1"/>
          <p:nvPr/>
        </p:nvSpPr>
        <p:spPr>
          <a:xfrm>
            <a:off x="246225" y="1763325"/>
            <a:ext cx="102789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222222"/>
                </a:solidFill>
                <a:highlight>
                  <a:srgbClr val="FFFFFF"/>
                </a:highlight>
                <a:latin typeface="Times New Roman"/>
                <a:ea typeface="Times New Roman"/>
                <a:cs typeface="Times New Roman"/>
                <a:sym typeface="Times New Roman"/>
              </a:rPr>
              <a:t>Li, L., Chen, B.-F., &amp; Chan, W.-Y. (2015). An Epigenetic Regulator: Methyl-CpG-Binding Domain Protein 1 (MBD1). </a:t>
            </a:r>
            <a:r>
              <a:rPr i="1" lang="en-US" sz="1200">
                <a:solidFill>
                  <a:srgbClr val="222222"/>
                </a:solidFill>
                <a:highlight>
                  <a:srgbClr val="FFFFFF"/>
                </a:highlight>
                <a:latin typeface="Times New Roman"/>
                <a:ea typeface="Times New Roman"/>
                <a:cs typeface="Times New Roman"/>
                <a:sym typeface="Times New Roman"/>
              </a:rPr>
              <a:t>International Journal of Molecular Sciences</a:t>
            </a:r>
            <a:r>
              <a:rPr lang="en-US" sz="1200">
                <a:solidFill>
                  <a:srgbClr val="222222"/>
                </a:solidFill>
                <a:highlight>
                  <a:srgbClr val="FFFFFF"/>
                </a:highlight>
                <a:latin typeface="Times New Roman"/>
                <a:ea typeface="Times New Roman"/>
                <a:cs typeface="Times New Roman"/>
                <a:sym typeface="Times New Roman"/>
              </a:rPr>
              <a:t>, </a:t>
            </a:r>
            <a:r>
              <a:rPr i="1" lang="en-US" sz="1200">
                <a:solidFill>
                  <a:srgbClr val="222222"/>
                </a:solidFill>
                <a:highlight>
                  <a:srgbClr val="FFFFFF"/>
                </a:highlight>
                <a:latin typeface="Times New Roman"/>
                <a:ea typeface="Times New Roman"/>
                <a:cs typeface="Times New Roman"/>
                <a:sym typeface="Times New Roman"/>
              </a:rPr>
              <a:t>16</a:t>
            </a:r>
            <a:r>
              <a:rPr lang="en-US" sz="1200">
                <a:solidFill>
                  <a:srgbClr val="222222"/>
                </a:solidFill>
                <a:highlight>
                  <a:srgbClr val="FFFFFF"/>
                </a:highlight>
                <a:latin typeface="Times New Roman"/>
                <a:ea typeface="Times New Roman"/>
                <a:cs typeface="Times New Roman"/>
                <a:sym typeface="Times New Roman"/>
              </a:rPr>
              <a:t>(3), 5125-5140. https://doi.org/10.3390/ijms16035125</a:t>
            </a:r>
            <a:endParaRPr sz="1200">
              <a:latin typeface="Times New Roman"/>
              <a:ea typeface="Times New Roman"/>
              <a:cs typeface="Times New Roman"/>
              <a:sym typeface="Times New Roman"/>
            </a:endParaRPr>
          </a:p>
        </p:txBody>
      </p:sp>
      <p:sp>
        <p:nvSpPr>
          <p:cNvPr id="365" name="Google Shape;365;p32"/>
          <p:cNvSpPr txBox="1"/>
          <p:nvPr/>
        </p:nvSpPr>
        <p:spPr>
          <a:xfrm>
            <a:off x="246225" y="2594525"/>
            <a:ext cx="11374500" cy="923400"/>
          </a:xfrm>
          <a:prstGeom prst="rect">
            <a:avLst/>
          </a:prstGeom>
          <a:noFill/>
          <a:ln>
            <a:noFill/>
          </a:ln>
        </p:spPr>
        <p:txBody>
          <a:bodyPr anchorCtr="0" anchor="t" bIns="0" lIns="0" spcFirstLastPara="1" rIns="0" wrap="square" tIns="0">
            <a:spAutoFit/>
          </a:bodyPr>
          <a:lstStyle/>
          <a:p>
            <a:pPr indent="-279400" lvl="0" marL="279400" rtl="0" algn="l">
              <a:lnSpc>
                <a:spcPct val="20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Kumar, B., Navarro, C., Yung, P. Y. K., Lyu, J., Salazar Mantero, A., Katsori, A.-M., Schwämmle, H., Martin, M., &amp; Elsässer, S. J. (2025). Multiplexed chromatin immunoprecipitation sequencing for quantitative study of histone modifications and chromatin factors. </a:t>
            </a:r>
            <a:r>
              <a:rPr i="1" lang="en-US" sz="1200">
                <a:solidFill>
                  <a:schemeClr val="dk1"/>
                </a:solidFill>
                <a:latin typeface="Times New Roman"/>
                <a:ea typeface="Times New Roman"/>
                <a:cs typeface="Times New Roman"/>
                <a:sym typeface="Times New Roman"/>
              </a:rPr>
              <a:t>Nature Protocols</a:t>
            </a:r>
            <a:r>
              <a:rPr lang="en-US" sz="1200">
                <a:solidFill>
                  <a:schemeClr val="dk1"/>
                </a:solidFill>
                <a:latin typeface="Times New Roman"/>
                <a:ea typeface="Times New Roman"/>
                <a:cs typeface="Times New Roman"/>
                <a:sym typeface="Times New Roman"/>
              </a:rPr>
              <a:t>, </a:t>
            </a:r>
            <a:r>
              <a:rPr i="1" lang="en-US" sz="1200">
                <a:solidFill>
                  <a:schemeClr val="dk1"/>
                </a:solidFill>
                <a:latin typeface="Times New Roman"/>
                <a:ea typeface="Times New Roman"/>
                <a:cs typeface="Times New Roman"/>
                <a:sym typeface="Times New Roman"/>
              </a:rPr>
              <a:t>20</a:t>
            </a:r>
            <a:r>
              <a:rPr lang="en-US" sz="1200">
                <a:solidFill>
                  <a:schemeClr val="dk1"/>
                </a:solidFill>
                <a:latin typeface="Times New Roman"/>
                <a:ea typeface="Times New Roman"/>
                <a:cs typeface="Times New Roman"/>
                <a:sym typeface="Times New Roman"/>
              </a:rPr>
              <a:t>(3), 779–809.</a:t>
            </a:r>
            <a:r>
              <a:rPr lang="en-US" sz="12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US" sz="1200" u="sng">
                <a:solidFill>
                  <a:schemeClr val="hlink"/>
                </a:solidFill>
                <a:latin typeface="Times New Roman"/>
                <a:ea typeface="Times New Roman"/>
                <a:cs typeface="Times New Roman"/>
                <a:sym typeface="Times New Roman"/>
                <a:hlinkClick r:id="rId5"/>
              </a:rPr>
              <a:t>https://doi.org/10.1038/s41596-024-01058-z</a:t>
            </a:r>
            <a:endParaRPr sz="1200" u="sng">
              <a:solidFill>
                <a:schemeClr val="hlink"/>
              </a:solidFill>
              <a:latin typeface="Times New Roman"/>
              <a:ea typeface="Times New Roman"/>
              <a:cs typeface="Times New Roman"/>
              <a:sym typeface="Times New Roman"/>
            </a:endParaRPr>
          </a:p>
          <a:p>
            <a:pPr indent="0" lvl="0" marL="0" marR="0" rtl="0" algn="l">
              <a:lnSpc>
                <a:spcPct val="160000"/>
              </a:lnSpc>
              <a:spcBef>
                <a:spcPts val="0"/>
              </a:spcBef>
              <a:spcAft>
                <a:spcPts val="0"/>
              </a:spcAft>
              <a:buNone/>
            </a:pPr>
            <a:r>
              <a:t/>
            </a:r>
            <a:endParaRPr sz="1200">
              <a:solidFill>
                <a:srgbClr val="334155"/>
              </a:solidFill>
              <a:latin typeface="Times New Roman"/>
              <a:ea typeface="Times New Roman"/>
              <a:cs typeface="Times New Roman"/>
              <a:sym typeface="Times New Roman"/>
            </a:endParaRPr>
          </a:p>
        </p:txBody>
      </p:sp>
      <p:sp>
        <p:nvSpPr>
          <p:cNvPr id="366" name="Google Shape;366;p32"/>
          <p:cNvSpPr txBox="1"/>
          <p:nvPr/>
        </p:nvSpPr>
        <p:spPr>
          <a:xfrm>
            <a:off x="246300" y="3549025"/>
            <a:ext cx="114876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334155"/>
                </a:solidFill>
                <a:latin typeface="Times New Roman"/>
                <a:ea typeface="Times New Roman"/>
                <a:cs typeface="Times New Roman"/>
                <a:sym typeface="Times New Roman"/>
              </a:rPr>
              <a:t>https://www.researchgate.net/figure/DNA-methylation-trends-during-lineage-commitment-and-differentiation-Most-of-the-DNA_fig1_305348420</a:t>
            </a:r>
            <a:endParaRPr sz="1200">
              <a:latin typeface="Times New Roman"/>
              <a:ea typeface="Times New Roman"/>
              <a:cs typeface="Times New Roman"/>
              <a:sym typeface="Times New Roman"/>
            </a:endParaRPr>
          </a:p>
        </p:txBody>
      </p:sp>
      <p:sp>
        <p:nvSpPr>
          <p:cNvPr id="367" name="Google Shape;367;p32"/>
          <p:cNvSpPr txBox="1"/>
          <p:nvPr/>
        </p:nvSpPr>
        <p:spPr>
          <a:xfrm>
            <a:off x="246300" y="4067463"/>
            <a:ext cx="11487600" cy="96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Active Motif. (2022). MethylCollector™ MBD Capture Kit Manual (Version A1). Carlsbad, CA: Active Motif, Inc. Available at:</a:t>
            </a:r>
            <a:r>
              <a:rPr lang="en-US" sz="1200">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 </a:t>
            </a:r>
            <a:r>
              <a:rPr lang="en-US" sz="1200" u="sng">
                <a:solidFill>
                  <a:schemeClr val="hlink"/>
                </a:solidFill>
                <a:latin typeface="Times New Roman"/>
                <a:ea typeface="Times New Roman"/>
                <a:cs typeface="Times New Roman"/>
                <a:sym typeface="Times New Roman"/>
                <a:hlinkClick r:id="rId7"/>
              </a:rPr>
              <a:t>www.activemotif.com</a:t>
            </a:r>
            <a:endParaRPr sz="1200" u="sng">
              <a:solidFill>
                <a:schemeClr val="hlink"/>
              </a:solidFill>
              <a:latin typeface="Times New Roman"/>
              <a:ea typeface="Times New Roman"/>
              <a:cs typeface="Times New Roman"/>
              <a:sym typeface="Times New Roman"/>
            </a:endParaRPr>
          </a:p>
          <a:p>
            <a:pPr indent="0" lvl="0" marL="0" marR="0" rtl="0" algn="l">
              <a:lnSpc>
                <a:spcPct val="160000"/>
              </a:lnSpc>
              <a:spcBef>
                <a:spcPts val="1200"/>
              </a:spcBef>
              <a:spcAft>
                <a:spcPts val="0"/>
              </a:spcAft>
              <a:buNone/>
            </a:pPr>
            <a:r>
              <a:t/>
            </a:r>
            <a:endParaRPr sz="1200">
              <a:latin typeface="Times New Roman"/>
              <a:ea typeface="Times New Roman"/>
              <a:cs typeface="Times New Roman"/>
              <a:sym typeface="Times New Roman"/>
            </a:endParaRPr>
          </a:p>
        </p:txBody>
      </p:sp>
      <p:sp>
        <p:nvSpPr>
          <p:cNvPr id="368" name="Google Shape;368;p32"/>
          <p:cNvSpPr txBox="1"/>
          <p:nvPr/>
        </p:nvSpPr>
        <p:spPr>
          <a:xfrm>
            <a:off x="172975" y="4934700"/>
            <a:ext cx="110490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US" sz="1200">
                <a:solidFill>
                  <a:schemeClr val="dk1"/>
                </a:solidFill>
                <a:latin typeface="Times New Roman"/>
                <a:ea typeface="Times New Roman"/>
                <a:cs typeface="Times New Roman"/>
                <a:sym typeface="Times New Roman"/>
              </a:rPr>
              <a:t>Huoman, J., Sayyab, S., Apostolou, E., Karlsson, L., Porcile, L., Rizwan, M., … Lerm, M. (2022). Epigenetic rewiring of pathways related to odour perception in immune cells exposed to SARS-CoV-2 in vivo and in vitro. Epigenetics, 17(13), 1875–1891.</a:t>
            </a:r>
            <a:r>
              <a:rPr lang="en-US" sz="1200">
                <a:solidFill>
                  <a:schemeClr val="dk1"/>
                </a:solidFill>
                <a:uFill>
                  <a:noFill/>
                </a:uFill>
                <a:latin typeface="Times New Roman"/>
                <a:ea typeface="Times New Roman"/>
                <a:cs typeface="Times New Roman"/>
                <a:sym typeface="Times New Roman"/>
                <a:hlinkClick r:id="rId8">
                  <a:extLst>
                    <a:ext uri="{A12FA001-AC4F-418D-AE19-62706E023703}">
                      <ahyp:hlinkClr val="tx"/>
                    </a:ext>
                  </a:extLst>
                </a:hlinkClick>
              </a:rPr>
              <a:t> </a:t>
            </a:r>
            <a:r>
              <a:rPr lang="en-US" sz="1200" u="sng">
                <a:solidFill>
                  <a:schemeClr val="hlink"/>
                </a:solidFill>
                <a:latin typeface="Times New Roman"/>
                <a:ea typeface="Times New Roman"/>
                <a:cs typeface="Times New Roman"/>
                <a:sym typeface="Times New Roman"/>
                <a:hlinkClick r:id="rId9"/>
              </a:rPr>
              <a:t>https://doi.org/10.1080/15592294.2022.2089471</a:t>
            </a:r>
            <a:endParaRPr sz="1200" u="sng">
              <a:solidFill>
                <a:schemeClr val="hlink"/>
              </a:solidFill>
              <a:latin typeface="Times New Roman"/>
              <a:ea typeface="Times New Roman"/>
              <a:cs typeface="Times New Roman"/>
              <a:sym typeface="Times New Roman"/>
            </a:endParaRPr>
          </a:p>
        </p:txBody>
      </p:sp>
      <p:sp>
        <p:nvSpPr>
          <p:cNvPr id="369" name="Google Shape;369;p32"/>
          <p:cNvSpPr txBox="1"/>
          <p:nvPr/>
        </p:nvSpPr>
        <p:spPr>
          <a:xfrm>
            <a:off x="172975" y="5971725"/>
            <a:ext cx="108843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More detailed list in the project document</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